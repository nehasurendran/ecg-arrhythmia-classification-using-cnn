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84" r:id="rId5"/>
    <p:sldId id="261" r:id="rId6"/>
    <p:sldId id="262" r:id="rId7"/>
    <p:sldId id="263" r:id="rId8"/>
    <p:sldId id="264" r:id="rId9"/>
    <p:sldId id="283" r:id="rId10"/>
    <p:sldId id="265" r:id="rId11"/>
    <p:sldId id="266" r:id="rId12"/>
    <p:sldId id="267" r:id="rId13"/>
    <p:sldId id="268" r:id="rId14"/>
    <p:sldId id="270" r:id="rId15"/>
    <p:sldId id="273" r:id="rId16"/>
    <p:sldId id="275" r:id="rId17"/>
    <p:sldId id="277" r:id="rId18"/>
    <p:sldId id="276" r:id="rId19"/>
    <p:sldId id="279" r:id="rId20"/>
    <p:sldId id="282" r:id="rId21"/>
    <p:sldId id="280" r:id="rId22"/>
    <p:sldId id="28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IN"/>
              <a:t>Classes Versus Number of Samples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7.0865586050155874E-2"/>
          <c:y val="0.15574027483577912"/>
          <c:w val="0.92114230286431587"/>
          <c:h val="0.70100107254035104"/>
        </c:manualLayout>
      </c:layout>
      <c:barChart>
        <c:barDir val="col"/>
        <c:grouping val="clustered"/>
        <c:varyColors val="0"/>
        <c:ser>
          <c:idx val="0"/>
          <c:order val="0"/>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Sheet1!$E$4:$E$7</c:f>
              <c:strCache>
                <c:ptCount val="4"/>
                <c:pt idx="0">
                  <c:v>Normal Sinus Rhythm</c:v>
                </c:pt>
                <c:pt idx="1">
                  <c:v>Atrial Fibrillation</c:v>
                </c:pt>
                <c:pt idx="2">
                  <c:v>Other Rythms</c:v>
                </c:pt>
                <c:pt idx="3">
                  <c:v>Noisy signal</c:v>
                </c:pt>
              </c:strCache>
            </c:strRef>
          </c:cat>
          <c:val>
            <c:numRef>
              <c:f>Sheet1!$F$4:$F$7</c:f>
              <c:numCache>
                <c:formatCode>General</c:formatCode>
                <c:ptCount val="4"/>
                <c:pt idx="0">
                  <c:v>5154</c:v>
                </c:pt>
                <c:pt idx="1">
                  <c:v>771</c:v>
                </c:pt>
                <c:pt idx="2">
                  <c:v>2557</c:v>
                </c:pt>
                <c:pt idx="3">
                  <c:v>46</c:v>
                </c:pt>
              </c:numCache>
            </c:numRef>
          </c:val>
          <c:extLst>
            <c:ext xmlns:c16="http://schemas.microsoft.com/office/drawing/2014/chart" uri="{C3380CC4-5D6E-409C-BE32-E72D297353CC}">
              <c16:uniqueId val="{00000000-2B5C-4F0D-A1CF-7B64ECDB7E80}"/>
            </c:ext>
          </c:extLst>
        </c:ser>
        <c:dLbls>
          <c:dLblPos val="inEnd"/>
          <c:showLegendKey val="0"/>
          <c:showVal val="1"/>
          <c:showCatName val="0"/>
          <c:showSerName val="0"/>
          <c:showPercent val="0"/>
          <c:showBubbleSize val="0"/>
        </c:dLbls>
        <c:gapWidth val="65"/>
        <c:axId val="792443712"/>
        <c:axId val="554616560"/>
      </c:barChart>
      <c:catAx>
        <c:axId val="792443712"/>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Classes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554616560"/>
        <c:crosses val="autoZero"/>
        <c:auto val="1"/>
        <c:lblAlgn val="ctr"/>
        <c:lblOffset val="100"/>
        <c:noMultiLvlLbl val="0"/>
      </c:catAx>
      <c:valAx>
        <c:axId val="554616560"/>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Number of Samples</a:t>
                </a:r>
              </a:p>
            </c:rich>
          </c:tx>
          <c:layout>
            <c:manualLayout>
              <c:xMode val="edge"/>
              <c:yMode val="edge"/>
              <c:x val="0"/>
              <c:y val="0.30994521489383275"/>
            </c:manualLayout>
          </c:layout>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crossAx val="7924437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AE9F87-5758-473A-A1AF-BBCA0932823C}" type="datetimeFigureOut">
              <a:rPr lang="en-IN" smtClean="0"/>
              <a:t>15-09-2023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D57840-92B6-4113-8EB0-EE631EEE8F98}" type="slidenum">
              <a:rPr lang="en-IN" smtClean="0"/>
              <a:t>‹#›</a:t>
            </a:fld>
            <a:endParaRPr lang="en-IN"/>
          </a:p>
        </p:txBody>
      </p:sp>
    </p:spTree>
    <p:extLst>
      <p:ext uri="{BB962C8B-B14F-4D97-AF65-F5344CB8AC3E}">
        <p14:creationId xmlns:p14="http://schemas.microsoft.com/office/powerpoint/2010/main" val="1161278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21B74-0574-73CA-0ADE-A4FBAE4834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3C8C70-DF46-0B02-35B5-275D7830E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0CB29E-CA39-1232-0FB8-D368B539FC9C}"/>
              </a:ext>
            </a:extLst>
          </p:cNvPr>
          <p:cNvSpPr>
            <a:spLocks noGrp="1"/>
          </p:cNvSpPr>
          <p:nvPr>
            <p:ph type="dt" sz="half" idx="10"/>
          </p:nvPr>
        </p:nvSpPr>
        <p:spPr/>
        <p:txBody>
          <a:bodyPr/>
          <a:lstStyle/>
          <a:p>
            <a:fld id="{664F065F-3CE3-40A9-BA2F-854CB7148032}" type="datetime1">
              <a:rPr lang="en-IN" smtClean="0"/>
              <a:t>15-09-2023</a:t>
            </a:fld>
            <a:endParaRPr lang="en-IN"/>
          </a:p>
        </p:txBody>
      </p:sp>
      <p:sp>
        <p:nvSpPr>
          <p:cNvPr id="5" name="Footer Placeholder 4">
            <a:extLst>
              <a:ext uri="{FF2B5EF4-FFF2-40B4-BE49-F238E27FC236}">
                <a16:creationId xmlns:a16="http://schemas.microsoft.com/office/drawing/2014/main" id="{255581F3-8202-E648-6B15-93F99818B8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F5D3A0-6F39-F3C7-A3A7-EA57A1A40997}"/>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929947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CCABF-CA61-EA82-0F3B-DE17FFFFD4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4688FD-3112-B9DA-A80F-DB1209D9FA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C4819F-0772-B17E-A8A1-A24D92E7BB62}"/>
              </a:ext>
            </a:extLst>
          </p:cNvPr>
          <p:cNvSpPr>
            <a:spLocks noGrp="1"/>
          </p:cNvSpPr>
          <p:nvPr>
            <p:ph type="dt" sz="half" idx="10"/>
          </p:nvPr>
        </p:nvSpPr>
        <p:spPr/>
        <p:txBody>
          <a:bodyPr/>
          <a:lstStyle/>
          <a:p>
            <a:fld id="{9354E2F8-9123-433E-BFD7-679CABFA96FA}" type="datetime1">
              <a:rPr lang="en-IN" smtClean="0"/>
              <a:t>15-09-2023</a:t>
            </a:fld>
            <a:endParaRPr lang="en-IN"/>
          </a:p>
        </p:txBody>
      </p:sp>
      <p:sp>
        <p:nvSpPr>
          <p:cNvPr id="5" name="Footer Placeholder 4">
            <a:extLst>
              <a:ext uri="{FF2B5EF4-FFF2-40B4-BE49-F238E27FC236}">
                <a16:creationId xmlns:a16="http://schemas.microsoft.com/office/drawing/2014/main" id="{B910603F-B78F-977B-DB57-20442E15FE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24B4D2-E58E-1F11-F281-C352766848D7}"/>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3005023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C8F84-F9AE-405B-8DE8-8895A7F819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EAF8C7-0109-107F-2326-AD0E4A67AE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D076AC-7C4A-F2C5-EC89-911787AF0767}"/>
              </a:ext>
            </a:extLst>
          </p:cNvPr>
          <p:cNvSpPr>
            <a:spLocks noGrp="1"/>
          </p:cNvSpPr>
          <p:nvPr>
            <p:ph type="dt" sz="half" idx="10"/>
          </p:nvPr>
        </p:nvSpPr>
        <p:spPr/>
        <p:txBody>
          <a:bodyPr/>
          <a:lstStyle/>
          <a:p>
            <a:fld id="{AADDBCBE-5B02-4992-9362-D659076C8A73}" type="datetime1">
              <a:rPr lang="en-IN" smtClean="0"/>
              <a:t>15-09-2023</a:t>
            </a:fld>
            <a:endParaRPr lang="en-IN"/>
          </a:p>
        </p:txBody>
      </p:sp>
      <p:sp>
        <p:nvSpPr>
          <p:cNvPr id="5" name="Footer Placeholder 4">
            <a:extLst>
              <a:ext uri="{FF2B5EF4-FFF2-40B4-BE49-F238E27FC236}">
                <a16:creationId xmlns:a16="http://schemas.microsoft.com/office/drawing/2014/main" id="{FF5CA4CC-7AD9-38AB-3ABB-79FD8B824E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5C6407-6563-455B-A23A-4D1BD1DCA103}"/>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1497703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D1B77-8C5A-E91E-382E-7B401B60A2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EB9B0A-FFDF-D767-0A85-70D7331D3C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D5D56D4-33F6-2F6C-F9CB-D8DD0E1806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7E9320-8A06-0C4D-9E53-50026932AF2F}"/>
              </a:ext>
            </a:extLst>
          </p:cNvPr>
          <p:cNvSpPr>
            <a:spLocks noGrp="1"/>
          </p:cNvSpPr>
          <p:nvPr>
            <p:ph type="dt" sz="half" idx="10"/>
          </p:nvPr>
        </p:nvSpPr>
        <p:spPr/>
        <p:txBody>
          <a:bodyPr/>
          <a:lstStyle/>
          <a:p>
            <a:fld id="{DD9A8BB4-D657-44EB-AA87-8EFF975FB299}" type="datetime1">
              <a:rPr lang="en-IN" smtClean="0"/>
              <a:t>15-09-2023</a:t>
            </a:fld>
            <a:endParaRPr lang="en-IN"/>
          </a:p>
        </p:txBody>
      </p:sp>
      <p:sp>
        <p:nvSpPr>
          <p:cNvPr id="6" name="Footer Placeholder 5">
            <a:extLst>
              <a:ext uri="{FF2B5EF4-FFF2-40B4-BE49-F238E27FC236}">
                <a16:creationId xmlns:a16="http://schemas.microsoft.com/office/drawing/2014/main" id="{9CD9ACDD-48B7-61C3-D101-F8CC630A04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A65384-52F5-F309-2F3F-696541D264B9}"/>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2863466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4799C-06F6-207F-7DD7-6D6E8B903A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2F1A7A-E295-BE1E-9334-BCA8867B32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3E07A1-EC3A-FF64-36EB-8B9162B3A0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5F1F9E-6C8A-9BE0-27AC-06D165E6B5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1FB94D-5807-FBAF-5A40-73594E4433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CCF9F6-A135-5FA4-82E5-D15E0A45B76D}"/>
              </a:ext>
            </a:extLst>
          </p:cNvPr>
          <p:cNvSpPr>
            <a:spLocks noGrp="1"/>
          </p:cNvSpPr>
          <p:nvPr>
            <p:ph type="dt" sz="half" idx="10"/>
          </p:nvPr>
        </p:nvSpPr>
        <p:spPr/>
        <p:txBody>
          <a:bodyPr/>
          <a:lstStyle/>
          <a:p>
            <a:fld id="{58E0B50C-7034-4744-B660-4291438789C3}" type="datetime1">
              <a:rPr lang="en-IN" smtClean="0"/>
              <a:t>15-09-2023</a:t>
            </a:fld>
            <a:endParaRPr lang="en-IN"/>
          </a:p>
        </p:txBody>
      </p:sp>
      <p:sp>
        <p:nvSpPr>
          <p:cNvPr id="8" name="Footer Placeholder 7">
            <a:extLst>
              <a:ext uri="{FF2B5EF4-FFF2-40B4-BE49-F238E27FC236}">
                <a16:creationId xmlns:a16="http://schemas.microsoft.com/office/drawing/2014/main" id="{DBB2F32B-7B2B-E146-95EA-4118621F74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588659-EBBF-AF75-C693-1EC827FF2D89}"/>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3905321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72C30-3FC0-4FEC-EB3C-DA45D149B2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1D9B2E-1DE5-E970-859B-3D39C14235C5}"/>
              </a:ext>
            </a:extLst>
          </p:cNvPr>
          <p:cNvSpPr>
            <a:spLocks noGrp="1"/>
          </p:cNvSpPr>
          <p:nvPr>
            <p:ph type="dt" sz="half" idx="10"/>
          </p:nvPr>
        </p:nvSpPr>
        <p:spPr/>
        <p:txBody>
          <a:bodyPr/>
          <a:lstStyle/>
          <a:p>
            <a:fld id="{DD82B56E-FF27-4207-B890-75616BDA7276}" type="datetime1">
              <a:rPr lang="en-IN" smtClean="0"/>
              <a:t>15-09-2023</a:t>
            </a:fld>
            <a:endParaRPr lang="en-IN"/>
          </a:p>
        </p:txBody>
      </p:sp>
      <p:sp>
        <p:nvSpPr>
          <p:cNvPr id="4" name="Footer Placeholder 3">
            <a:extLst>
              <a:ext uri="{FF2B5EF4-FFF2-40B4-BE49-F238E27FC236}">
                <a16:creationId xmlns:a16="http://schemas.microsoft.com/office/drawing/2014/main" id="{305E5199-10A8-B126-E165-B5168BCC99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8B3675-A36F-23F9-2EC9-8A1DBD39C25D}"/>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1231315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F437D4-6EDE-09BF-9360-537B92B79270}"/>
              </a:ext>
            </a:extLst>
          </p:cNvPr>
          <p:cNvSpPr>
            <a:spLocks noGrp="1"/>
          </p:cNvSpPr>
          <p:nvPr>
            <p:ph type="dt" sz="half" idx="10"/>
          </p:nvPr>
        </p:nvSpPr>
        <p:spPr/>
        <p:txBody>
          <a:bodyPr/>
          <a:lstStyle/>
          <a:p>
            <a:fld id="{24DF9015-6BD2-49D6-AE84-12FC2B3FF08A}" type="datetime1">
              <a:rPr lang="en-IN" smtClean="0"/>
              <a:t>15-09-2023</a:t>
            </a:fld>
            <a:endParaRPr lang="en-IN"/>
          </a:p>
        </p:txBody>
      </p:sp>
      <p:sp>
        <p:nvSpPr>
          <p:cNvPr id="3" name="Footer Placeholder 2">
            <a:extLst>
              <a:ext uri="{FF2B5EF4-FFF2-40B4-BE49-F238E27FC236}">
                <a16:creationId xmlns:a16="http://schemas.microsoft.com/office/drawing/2014/main" id="{95AC10D5-54B1-9FC3-8872-407EE131A9D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64C00C-3096-5C88-5E1D-E49F6AD6B133}"/>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2597245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2B77C-0E02-A54F-9FA0-745A114B1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4BF215-9B1F-150F-13E2-0EE46371CB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E16B26-1BD3-6030-2029-5E37BC96D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B33A8-197E-72BD-6378-FED7F551DEE4}"/>
              </a:ext>
            </a:extLst>
          </p:cNvPr>
          <p:cNvSpPr>
            <a:spLocks noGrp="1"/>
          </p:cNvSpPr>
          <p:nvPr>
            <p:ph type="dt" sz="half" idx="10"/>
          </p:nvPr>
        </p:nvSpPr>
        <p:spPr/>
        <p:txBody>
          <a:bodyPr/>
          <a:lstStyle/>
          <a:p>
            <a:fld id="{A502E91F-0C30-4B7F-904E-CC589DFB0695}" type="datetime1">
              <a:rPr lang="en-IN" smtClean="0"/>
              <a:t>15-09-2023</a:t>
            </a:fld>
            <a:endParaRPr lang="en-IN"/>
          </a:p>
        </p:txBody>
      </p:sp>
      <p:sp>
        <p:nvSpPr>
          <p:cNvPr id="6" name="Footer Placeholder 5">
            <a:extLst>
              <a:ext uri="{FF2B5EF4-FFF2-40B4-BE49-F238E27FC236}">
                <a16:creationId xmlns:a16="http://schemas.microsoft.com/office/drawing/2014/main" id="{5C9B1D5B-10FF-3B98-2979-A94F93884A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6B151E-E52D-8D07-77DE-F3BFF5CF5EDC}"/>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2751824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108C1-B0A4-EC62-48A3-1B62CB11A8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5BBA09-92C5-23BA-77AF-8F18C08701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69054E-11D4-2C37-5FB7-AB4977532E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30E42B-BD1D-FE29-94DB-3DC59F84FC97}"/>
              </a:ext>
            </a:extLst>
          </p:cNvPr>
          <p:cNvSpPr>
            <a:spLocks noGrp="1"/>
          </p:cNvSpPr>
          <p:nvPr>
            <p:ph type="dt" sz="half" idx="10"/>
          </p:nvPr>
        </p:nvSpPr>
        <p:spPr/>
        <p:txBody>
          <a:bodyPr/>
          <a:lstStyle/>
          <a:p>
            <a:fld id="{4F7F8D9D-BE64-440B-A368-DAB90F477D42}" type="datetime1">
              <a:rPr lang="en-IN" smtClean="0"/>
              <a:t>15-09-2023</a:t>
            </a:fld>
            <a:endParaRPr lang="en-IN"/>
          </a:p>
        </p:txBody>
      </p:sp>
      <p:sp>
        <p:nvSpPr>
          <p:cNvPr id="6" name="Footer Placeholder 5">
            <a:extLst>
              <a:ext uri="{FF2B5EF4-FFF2-40B4-BE49-F238E27FC236}">
                <a16:creationId xmlns:a16="http://schemas.microsoft.com/office/drawing/2014/main" id="{16CA8280-1019-56F3-CE22-D948032CCC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C22B63-FE48-9699-33E0-31FA32058EA4}"/>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260715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F7535-7B8A-5502-3953-DDA10D8147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993988-C27E-D95E-4096-23B25EEA32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C69BE9-3B5E-B5AF-D7A7-08E2F7FB63A9}"/>
              </a:ext>
            </a:extLst>
          </p:cNvPr>
          <p:cNvSpPr>
            <a:spLocks noGrp="1"/>
          </p:cNvSpPr>
          <p:nvPr>
            <p:ph type="dt" sz="half" idx="10"/>
          </p:nvPr>
        </p:nvSpPr>
        <p:spPr/>
        <p:txBody>
          <a:bodyPr/>
          <a:lstStyle/>
          <a:p>
            <a:fld id="{0ACBBF29-362D-4ADB-B80C-E52712511875}" type="datetime1">
              <a:rPr lang="en-IN" smtClean="0"/>
              <a:t>15-09-2023</a:t>
            </a:fld>
            <a:endParaRPr lang="en-IN"/>
          </a:p>
        </p:txBody>
      </p:sp>
      <p:sp>
        <p:nvSpPr>
          <p:cNvPr id="5" name="Footer Placeholder 4">
            <a:extLst>
              <a:ext uri="{FF2B5EF4-FFF2-40B4-BE49-F238E27FC236}">
                <a16:creationId xmlns:a16="http://schemas.microsoft.com/office/drawing/2014/main" id="{8111DAD0-ECF0-444C-598D-8EAF609843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16DF39-307C-F7F2-CF6D-BA89ECCC8FC5}"/>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27043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735ADA-02DE-F2E3-2161-8EAEBE9883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4583D7-2E61-B0F8-74F7-295DFA342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5CFCB6-6879-C9A1-2AE2-31D1909E5DBE}"/>
              </a:ext>
            </a:extLst>
          </p:cNvPr>
          <p:cNvSpPr>
            <a:spLocks noGrp="1"/>
          </p:cNvSpPr>
          <p:nvPr>
            <p:ph type="dt" sz="half" idx="10"/>
          </p:nvPr>
        </p:nvSpPr>
        <p:spPr/>
        <p:txBody>
          <a:bodyPr/>
          <a:lstStyle/>
          <a:p>
            <a:fld id="{0B465746-BBE8-4BFD-9E93-3AEF03F965B4}" type="datetime1">
              <a:rPr lang="en-IN" smtClean="0"/>
              <a:t>15-09-2023</a:t>
            </a:fld>
            <a:endParaRPr lang="en-IN"/>
          </a:p>
        </p:txBody>
      </p:sp>
      <p:sp>
        <p:nvSpPr>
          <p:cNvPr id="5" name="Footer Placeholder 4">
            <a:extLst>
              <a:ext uri="{FF2B5EF4-FFF2-40B4-BE49-F238E27FC236}">
                <a16:creationId xmlns:a16="http://schemas.microsoft.com/office/drawing/2014/main" id="{4561AC7D-F9C5-E80D-840D-B587BF3B8B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942E89-F788-9436-75CB-33E898B8AB33}"/>
              </a:ext>
            </a:extLst>
          </p:cNvPr>
          <p:cNvSpPr>
            <a:spLocks noGrp="1"/>
          </p:cNvSpPr>
          <p:nvPr>
            <p:ph type="sldNum" sz="quarter" idx="12"/>
          </p:nvPr>
        </p:nvSpPr>
        <p:spPr/>
        <p:txBody>
          <a:bodyPr/>
          <a:lstStyle/>
          <a:p>
            <a:fld id="{6C5FC05A-C924-4EE5-A853-ADA77C45D7CF}" type="slidenum">
              <a:rPr lang="en-IN" smtClean="0"/>
              <a:t>‹#›</a:t>
            </a:fld>
            <a:endParaRPr lang="en-IN"/>
          </a:p>
        </p:txBody>
      </p:sp>
    </p:spTree>
    <p:extLst>
      <p:ext uri="{BB962C8B-B14F-4D97-AF65-F5344CB8AC3E}">
        <p14:creationId xmlns:p14="http://schemas.microsoft.com/office/powerpoint/2010/main" val="1788156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FEFE16-E4AE-D011-B112-DC51409641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A42F2A-BBC6-24B1-3994-06C65969E6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90B73-37AE-D442-CCF4-1E23DA7C3B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E929C4-0F13-496A-8A67-182ED7E55688}" type="datetime1">
              <a:rPr lang="en-IN" smtClean="0"/>
              <a:t>15-09-2023</a:t>
            </a:fld>
            <a:endParaRPr lang="en-IN"/>
          </a:p>
        </p:txBody>
      </p:sp>
      <p:sp>
        <p:nvSpPr>
          <p:cNvPr id="5" name="Footer Placeholder 4">
            <a:extLst>
              <a:ext uri="{FF2B5EF4-FFF2-40B4-BE49-F238E27FC236}">
                <a16:creationId xmlns:a16="http://schemas.microsoft.com/office/drawing/2014/main" id="{5AD41E29-8177-1420-BBBE-5AF0A46A56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1C6776B-410D-4CE5-BE17-53C5F49D8E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5FC05A-C924-4EE5-A853-ADA77C45D7CF}" type="slidenum">
              <a:rPr lang="en-IN" smtClean="0"/>
              <a:t>‹#›</a:t>
            </a:fld>
            <a:endParaRPr lang="en-IN"/>
          </a:p>
        </p:txBody>
      </p:sp>
    </p:spTree>
    <p:extLst>
      <p:ext uri="{BB962C8B-B14F-4D97-AF65-F5344CB8AC3E}">
        <p14:creationId xmlns:p14="http://schemas.microsoft.com/office/powerpoint/2010/main" val="1602466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D00C-5332-2D00-CE18-FE028848B05F}"/>
              </a:ext>
            </a:extLst>
          </p:cNvPr>
          <p:cNvSpPr>
            <a:spLocks noGrp="1"/>
          </p:cNvSpPr>
          <p:nvPr>
            <p:ph type="ctrTitle"/>
          </p:nvPr>
        </p:nvSpPr>
        <p:spPr>
          <a:xfrm>
            <a:off x="1524000" y="1620203"/>
            <a:ext cx="9144000" cy="2387600"/>
          </a:xfrm>
        </p:spPr>
        <p:txBody>
          <a:bodyPr>
            <a:normAutofit/>
          </a:bodyPr>
          <a:lstStyle/>
          <a:p>
            <a:r>
              <a:rPr lang="en-IN" sz="4400" dirty="0">
                <a:solidFill>
                  <a:schemeClr val="tx2">
                    <a:lumMod val="75000"/>
                  </a:schemeClr>
                </a:solidFill>
                <a:latin typeface="Times New Roman" panose="02020603050405020304" pitchFamily="18" charset="0"/>
                <a:cs typeface="Times New Roman" panose="02020603050405020304" pitchFamily="18" charset="0"/>
              </a:rPr>
              <a:t>Electrocardiogram Arrhythmia Classification Using Convolutional Neural Network</a:t>
            </a:r>
          </a:p>
        </p:txBody>
      </p:sp>
      <p:sp>
        <p:nvSpPr>
          <p:cNvPr id="3" name="Subtitle 2">
            <a:extLst>
              <a:ext uri="{FF2B5EF4-FFF2-40B4-BE49-F238E27FC236}">
                <a16:creationId xmlns:a16="http://schemas.microsoft.com/office/drawing/2014/main" id="{28B61179-0B35-FC53-31AA-16CB13339BA1}"/>
              </a:ext>
            </a:extLst>
          </p:cNvPr>
          <p:cNvSpPr>
            <a:spLocks noGrp="1"/>
          </p:cNvSpPr>
          <p:nvPr>
            <p:ph type="subTitle" idx="1"/>
          </p:nvPr>
        </p:nvSpPr>
        <p:spPr>
          <a:xfrm>
            <a:off x="6725920" y="4700588"/>
            <a:ext cx="5709920" cy="1655762"/>
          </a:xfrm>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Submitted By,</a:t>
            </a:r>
          </a:p>
          <a:p>
            <a:r>
              <a:rPr lang="en-IN" dirty="0">
                <a:latin typeface="Times New Roman" panose="02020603050405020304" pitchFamily="18" charset="0"/>
                <a:cs typeface="Times New Roman" panose="02020603050405020304" pitchFamily="18" charset="0"/>
              </a:rPr>
              <a:t>                     Neha Surendran</a:t>
            </a:r>
          </a:p>
          <a:p>
            <a:r>
              <a:rPr lang="en-IN" dirty="0">
                <a:latin typeface="Times New Roman" panose="02020603050405020304" pitchFamily="18" charset="0"/>
                <a:cs typeface="Times New Roman" panose="02020603050405020304" pitchFamily="18" charset="0"/>
              </a:rPr>
              <a:t>                                   Student ID : B00895082</a:t>
            </a:r>
          </a:p>
          <a:p>
            <a:r>
              <a:rPr lang="en-IN" dirty="0">
                <a:latin typeface="Times New Roman" panose="02020603050405020304" pitchFamily="18" charset="0"/>
                <a:cs typeface="Times New Roman" panose="02020603050405020304" pitchFamily="18" charset="0"/>
              </a:rPr>
              <a:t>Supervised By,</a:t>
            </a:r>
          </a:p>
          <a:p>
            <a:r>
              <a:rPr lang="en-IN" dirty="0">
                <a:latin typeface="Times New Roman" panose="02020603050405020304" pitchFamily="18" charset="0"/>
                <a:cs typeface="Times New Roman" panose="02020603050405020304" pitchFamily="18" charset="0"/>
              </a:rPr>
              <a:t>                               Prof. Raymond Bond</a:t>
            </a:r>
          </a:p>
        </p:txBody>
      </p:sp>
      <p:pic>
        <p:nvPicPr>
          <p:cNvPr id="4" name="Picture 3">
            <a:extLst>
              <a:ext uri="{FF2B5EF4-FFF2-40B4-BE49-F238E27FC236}">
                <a16:creationId xmlns:a16="http://schemas.microsoft.com/office/drawing/2014/main" id="{C73624C3-1855-BD84-9054-E7BD526ADD98}"/>
              </a:ext>
            </a:extLst>
          </p:cNvPr>
          <p:cNvPicPr>
            <a:picLocks noChangeAspect="1"/>
          </p:cNvPicPr>
          <p:nvPr/>
        </p:nvPicPr>
        <p:blipFill>
          <a:blip r:embed="rId2"/>
          <a:stretch>
            <a:fillRect/>
          </a:stretch>
        </p:blipFill>
        <p:spPr>
          <a:xfrm>
            <a:off x="8646795" y="235744"/>
            <a:ext cx="3067050" cy="1714500"/>
          </a:xfrm>
          <a:prstGeom prst="rect">
            <a:avLst/>
          </a:prstGeom>
        </p:spPr>
      </p:pic>
      <p:pic>
        <p:nvPicPr>
          <p:cNvPr id="5" name="Picture 4">
            <a:extLst>
              <a:ext uri="{FF2B5EF4-FFF2-40B4-BE49-F238E27FC236}">
                <a16:creationId xmlns:a16="http://schemas.microsoft.com/office/drawing/2014/main" id="{B9E4C56F-5594-C365-C8B0-B3DEA6781FDC}"/>
              </a:ext>
            </a:extLst>
          </p:cNvPr>
          <p:cNvPicPr>
            <a:picLocks noChangeAspect="1"/>
          </p:cNvPicPr>
          <p:nvPr/>
        </p:nvPicPr>
        <p:blipFill>
          <a:blip r:embed="rId3"/>
          <a:stretch>
            <a:fillRect/>
          </a:stretch>
        </p:blipFill>
        <p:spPr>
          <a:xfrm>
            <a:off x="0" y="4635062"/>
            <a:ext cx="8646795" cy="2222938"/>
          </a:xfrm>
          <a:prstGeom prst="rect">
            <a:avLst/>
          </a:prstGeom>
          <a:effectLst>
            <a:outerShdw blurRad="241300" dist="50800" dir="6000000" algn="ctr" rotWithShape="0">
              <a:srgbClr val="000000">
                <a:alpha val="99000"/>
              </a:srgbClr>
            </a:outerShdw>
          </a:effectLst>
        </p:spPr>
      </p:pic>
      <p:sp>
        <p:nvSpPr>
          <p:cNvPr id="6" name="Slide Number Placeholder 5">
            <a:extLst>
              <a:ext uri="{FF2B5EF4-FFF2-40B4-BE49-F238E27FC236}">
                <a16:creationId xmlns:a16="http://schemas.microsoft.com/office/drawing/2014/main" id="{3F64B1B8-0F5C-6782-964E-BF9C923602E1}"/>
              </a:ext>
            </a:extLst>
          </p:cNvPr>
          <p:cNvSpPr>
            <a:spLocks noGrp="1"/>
          </p:cNvSpPr>
          <p:nvPr>
            <p:ph type="sldNum" sz="quarter" idx="12"/>
          </p:nvPr>
        </p:nvSpPr>
        <p:spPr/>
        <p:txBody>
          <a:bodyPr/>
          <a:lstStyle/>
          <a:p>
            <a:fld id="{6C5FC05A-C924-4EE5-A853-ADA77C45D7CF}" type="slidenum">
              <a:rPr lang="en-IN" sz="2000" smtClean="0">
                <a:solidFill>
                  <a:schemeClr val="tx1"/>
                </a:solidFill>
              </a:rPr>
              <a:t>1</a:t>
            </a:fld>
            <a:endParaRPr lang="en-IN" sz="2000" dirty="0">
              <a:solidFill>
                <a:schemeClr val="tx1"/>
              </a:solidFill>
            </a:endParaRPr>
          </a:p>
        </p:txBody>
      </p:sp>
    </p:spTree>
    <p:extLst>
      <p:ext uri="{BB962C8B-B14F-4D97-AF65-F5344CB8AC3E}">
        <p14:creationId xmlns:p14="http://schemas.microsoft.com/office/powerpoint/2010/main" val="212535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235C-F786-C603-CF44-04A06D8B58D9}"/>
              </a:ext>
            </a:extLst>
          </p:cNvPr>
          <p:cNvSpPr>
            <a:spLocks noGrp="1"/>
          </p:cNvSpPr>
          <p:nvPr>
            <p:ph type="title"/>
          </p:nvPr>
        </p:nvSpPr>
        <p:spPr>
          <a:xfrm>
            <a:off x="838200" y="354614"/>
            <a:ext cx="10515600" cy="1325563"/>
          </a:xfrm>
        </p:spPr>
        <p:txBody>
          <a:bodyPr>
            <a:normAutofit/>
          </a:bodyPr>
          <a:lstStyle/>
          <a:p>
            <a:r>
              <a:rPr lang="en-IN" sz="4000" dirty="0">
                <a:solidFill>
                  <a:schemeClr val="tx2">
                    <a:lumMod val="75000"/>
                  </a:schemeClr>
                </a:solidFill>
                <a:latin typeface="Times New Roman" panose="02020603050405020304" pitchFamily="18" charset="0"/>
                <a:cs typeface="Times New Roman" panose="02020603050405020304" pitchFamily="18" charset="0"/>
              </a:rPr>
              <a:t>               </a:t>
            </a:r>
            <a:r>
              <a:rPr lang="en-IN" sz="4000" u="sng" dirty="0">
                <a:solidFill>
                  <a:schemeClr val="tx2">
                    <a:lumMod val="75000"/>
                  </a:schemeClr>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CD8CCA1-C2CA-71A4-FA01-11425E2B81E2}"/>
              </a:ext>
            </a:extLst>
          </p:cNvPr>
          <p:cNvSpPr>
            <a:spLocks noGrp="1"/>
          </p:cNvSpPr>
          <p:nvPr>
            <p:ph idx="1"/>
          </p:nvPr>
        </p:nvSpPr>
        <p:spPr>
          <a:xfrm>
            <a:off x="838199" y="2527217"/>
            <a:ext cx="10515600" cy="5355021"/>
          </a:xfrm>
        </p:spPr>
        <p:txBody>
          <a:bodyPr>
            <a:normAutofit/>
          </a:bodyPr>
          <a:lstStyle/>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ECG (Electrocardiogram) signal represents the electrical activity of the heart</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 signal consists of various waves and segments representing the</a:t>
            </a:r>
            <a:r>
              <a:rPr lang="en-IN" sz="2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functions of atria and ventricles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Cardiac Arrhythmias : Detected by assessing the ECG waveform variations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Manual analysis of ECG by cardiologists is a tedious and time-consuming process</a:t>
            </a:r>
          </a:p>
          <a:p>
            <a:pPr marL="0" indent="0">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ACA7B1A-5319-0D70-ADD4-F1BF3361C601}"/>
              </a:ext>
            </a:extLst>
          </p:cNvPr>
          <p:cNvPicPr>
            <a:picLocks noChangeAspect="1"/>
          </p:cNvPicPr>
          <p:nvPr/>
        </p:nvPicPr>
        <p:blipFill>
          <a:blip r:embed="rId2"/>
          <a:stretch>
            <a:fillRect/>
          </a:stretch>
        </p:blipFill>
        <p:spPr>
          <a:xfrm>
            <a:off x="7026515" y="176172"/>
            <a:ext cx="5044965" cy="2351045"/>
          </a:xfrm>
          <a:prstGeom prst="rect">
            <a:avLst/>
          </a:prstGeom>
        </p:spPr>
      </p:pic>
      <p:cxnSp>
        <p:nvCxnSpPr>
          <p:cNvPr id="7" name="Straight Connector 6">
            <a:extLst>
              <a:ext uri="{FF2B5EF4-FFF2-40B4-BE49-F238E27FC236}">
                <a16:creationId xmlns:a16="http://schemas.microsoft.com/office/drawing/2014/main" id="{FE211BE9-15C1-72AE-EB5A-A1D4135AF354}"/>
              </a:ext>
            </a:extLst>
          </p:cNvPr>
          <p:cNvCxnSpPr/>
          <p:nvPr/>
        </p:nvCxnSpPr>
        <p:spPr>
          <a:xfrm>
            <a:off x="0" y="6786880"/>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F78D83C-7969-7BB4-E4F5-9A6190C298FD}"/>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19141D32-9A42-17D6-8430-2A60D866A48D}"/>
              </a:ext>
            </a:extLst>
          </p:cNvPr>
          <p:cNvSpPr>
            <a:spLocks noGrp="1"/>
          </p:cNvSpPr>
          <p:nvPr>
            <p:ph type="sldNum" sz="quarter" idx="12"/>
          </p:nvPr>
        </p:nvSpPr>
        <p:spPr/>
        <p:txBody>
          <a:bodyPr/>
          <a:lstStyle/>
          <a:p>
            <a:fld id="{6C5FC05A-C924-4EE5-A853-ADA77C45D7CF}" type="slidenum">
              <a:rPr lang="en-IN" sz="2000" smtClean="0">
                <a:solidFill>
                  <a:schemeClr val="tx1"/>
                </a:solidFill>
              </a:rPr>
              <a:t>2</a:t>
            </a:fld>
            <a:endParaRPr lang="en-IN" sz="2000" dirty="0">
              <a:solidFill>
                <a:schemeClr val="tx1"/>
              </a:solidFill>
            </a:endParaRPr>
          </a:p>
        </p:txBody>
      </p:sp>
    </p:spTree>
    <p:extLst>
      <p:ext uri="{BB962C8B-B14F-4D97-AF65-F5344CB8AC3E}">
        <p14:creationId xmlns:p14="http://schemas.microsoft.com/office/powerpoint/2010/main" val="4023703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B399-21EB-FB48-BC23-2044AE659558}"/>
              </a:ext>
            </a:extLst>
          </p:cNvPr>
          <p:cNvSpPr>
            <a:spLocks noGrp="1"/>
          </p:cNvSpPr>
          <p:nvPr>
            <p:ph type="title"/>
          </p:nvPr>
        </p:nvSpPr>
        <p:spPr/>
        <p:txBody>
          <a:bodyPr/>
          <a:lstStyle/>
          <a:p>
            <a:pPr algn="ctr"/>
            <a:r>
              <a:rPr lang="en-IN" sz="4400" u="sng" dirty="0">
                <a:solidFill>
                  <a:schemeClr val="tx2">
                    <a:lumMod val="75000"/>
                  </a:schemeClr>
                </a:solidFill>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898F237E-D7E1-F71D-3084-A4FF315BF382}"/>
              </a:ext>
            </a:extLst>
          </p:cNvPr>
          <p:cNvSpPr>
            <a:spLocks noGrp="1"/>
          </p:cNvSpPr>
          <p:nvPr>
            <p:ph idx="1"/>
          </p:nvPr>
        </p:nvSpPr>
        <p:spPr>
          <a:xfrm>
            <a:off x="838200" y="2049333"/>
            <a:ext cx="10515600" cy="4632643"/>
          </a:xfrm>
        </p:spPr>
        <p:txBody>
          <a:bodyPr>
            <a:normAutofit/>
          </a:bodyPr>
          <a:lstStyle/>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WHO reports that cardiovascular diseases are the leading cause of global death [1]</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Early detection of cardiovascular diseases through deep learning -based ECG classification</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Automatic interpretation of ECG signal by computers</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proposed work develops a 2-D Convolutional Neural Network (CNN) to classify ECG signal into Normal Sinus Rhythm (NSR), Atrial Fibrillation (AF), Alternative Rhythm (AR) and noisy signal</a:t>
            </a:r>
          </a:p>
        </p:txBody>
      </p:sp>
      <p:cxnSp>
        <p:nvCxnSpPr>
          <p:cNvPr id="4" name="Straight Connector 3">
            <a:extLst>
              <a:ext uri="{FF2B5EF4-FFF2-40B4-BE49-F238E27FC236}">
                <a16:creationId xmlns:a16="http://schemas.microsoft.com/office/drawing/2014/main" id="{014DB749-ADB0-82B0-21D9-BC1AF8259C5D}"/>
              </a:ext>
            </a:extLst>
          </p:cNvPr>
          <p:cNvCxnSpPr/>
          <p:nvPr/>
        </p:nvCxnSpPr>
        <p:spPr>
          <a:xfrm>
            <a:off x="0" y="6786880"/>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D9FED5E-3F79-5DA4-AEE3-9F82AA8AC270}"/>
              </a:ext>
            </a:extLst>
          </p:cNvPr>
          <p:cNvCxnSpPr/>
          <p:nvPr/>
        </p:nvCxnSpPr>
        <p:spPr>
          <a:xfrm>
            <a:off x="0"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79CFDF4-76A8-7C9B-7251-DA49B70A0BB6}"/>
              </a:ext>
            </a:extLst>
          </p:cNvPr>
          <p:cNvSpPr>
            <a:spLocks noGrp="1"/>
          </p:cNvSpPr>
          <p:nvPr>
            <p:ph type="sldNum" sz="quarter" idx="12"/>
          </p:nvPr>
        </p:nvSpPr>
        <p:spPr/>
        <p:txBody>
          <a:bodyPr/>
          <a:lstStyle/>
          <a:p>
            <a:fld id="{6C5FC05A-C924-4EE5-A853-ADA77C45D7CF}" type="slidenum">
              <a:rPr lang="en-IN" sz="2000" smtClean="0">
                <a:solidFill>
                  <a:schemeClr val="tx1"/>
                </a:solidFill>
              </a:rPr>
              <a:t>3</a:t>
            </a:fld>
            <a:endParaRPr lang="en-IN" sz="2000" dirty="0">
              <a:solidFill>
                <a:schemeClr val="tx1"/>
              </a:solidFill>
            </a:endParaRPr>
          </a:p>
        </p:txBody>
      </p:sp>
      <p:sp>
        <p:nvSpPr>
          <p:cNvPr id="7" name="TextBox 6">
            <a:extLst>
              <a:ext uri="{FF2B5EF4-FFF2-40B4-BE49-F238E27FC236}">
                <a16:creationId xmlns:a16="http://schemas.microsoft.com/office/drawing/2014/main" id="{1CB032D0-83AA-73D8-4435-22EBAB41EB38}"/>
              </a:ext>
            </a:extLst>
          </p:cNvPr>
          <p:cNvSpPr txBox="1"/>
          <p:nvPr/>
        </p:nvSpPr>
        <p:spPr>
          <a:xfrm>
            <a:off x="365760" y="6176963"/>
            <a:ext cx="9113520" cy="400110"/>
          </a:xfrm>
          <a:prstGeom prst="rect">
            <a:avLst/>
          </a:prstGeom>
          <a:noFill/>
        </p:spPr>
        <p:txBody>
          <a:bodyPr wrap="square" rtlCol="0">
            <a:spAutoFit/>
          </a:bodyPr>
          <a:lstStyle/>
          <a:p>
            <a:r>
              <a:rPr lang="en-US" sz="1000" b="0" i="0" u="none" strike="noStrike" baseline="0" dirty="0">
                <a:solidFill>
                  <a:srgbClr val="000000"/>
                </a:solidFill>
                <a:latin typeface="Times New Roman" panose="02020603050405020304" pitchFamily="18" charset="0"/>
              </a:rPr>
              <a:t>[1] ‘Cardiovascular diseases (CVDs)’, Who.int. [Online]. Available: https://www.who.int/news-room/fact-sheets/detail/cardiovascular-diseases-(cvds). [Accessed: 01-Sep-2023]</a:t>
            </a:r>
            <a:endParaRPr lang="en-IN" sz="1000" dirty="0"/>
          </a:p>
        </p:txBody>
      </p:sp>
    </p:spTree>
    <p:extLst>
      <p:ext uri="{BB962C8B-B14F-4D97-AF65-F5344CB8AC3E}">
        <p14:creationId xmlns:p14="http://schemas.microsoft.com/office/powerpoint/2010/main" val="2838952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58E9-5AD2-F423-993A-640FDCCA29B1}"/>
              </a:ext>
            </a:extLst>
          </p:cNvPr>
          <p:cNvSpPr>
            <a:spLocks noGrp="1"/>
          </p:cNvSpPr>
          <p:nvPr>
            <p:ph type="title"/>
          </p:nvPr>
        </p:nvSpPr>
        <p:spPr>
          <a:xfrm>
            <a:off x="838200" y="314325"/>
            <a:ext cx="10515600" cy="1325563"/>
          </a:xfrm>
        </p:spPr>
        <p:txBody>
          <a:bodyPr>
            <a:normAutofit/>
          </a:bodyPr>
          <a:lstStyle/>
          <a:p>
            <a:pPr algn="ctr"/>
            <a:r>
              <a:rPr lang="en-US" sz="4000" u="sng" dirty="0">
                <a:solidFill>
                  <a:schemeClr val="accent1">
                    <a:lumMod val="50000"/>
                  </a:schemeClr>
                </a:solidFill>
                <a:latin typeface="Times New Roman" panose="02020603050405020304" pitchFamily="18" charset="0"/>
                <a:cs typeface="Times New Roman" panose="02020603050405020304" pitchFamily="18" charset="0"/>
              </a:rPr>
              <a:t>RECENT WORKS</a:t>
            </a:r>
            <a:endParaRPr lang="en-IN" sz="4000" u="sng"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4EC5D7-E478-329E-CC5D-EFD99FFDE381}"/>
              </a:ext>
            </a:extLst>
          </p:cNvPr>
          <p:cNvSpPr>
            <a:spLocks noGrp="1"/>
          </p:cNvSpPr>
          <p:nvPr>
            <p:ph idx="1"/>
          </p:nvPr>
        </p:nvSpPr>
        <p:spPr>
          <a:xfrm>
            <a:off x="838200" y="1391920"/>
            <a:ext cx="10515600" cy="4175760"/>
          </a:xfrm>
        </p:spPr>
        <p:txBody>
          <a:bodyPr>
            <a:normAutofit fontScale="92500" lnSpcReduction="20000"/>
          </a:bodyPr>
          <a:lstStyle/>
          <a:p>
            <a:pPr marL="342900" indent="-342900">
              <a:buAutoNum type="arabicParenR"/>
            </a:pPr>
            <a:r>
              <a:rPr lang="en-US" sz="1800" b="1" i="0" u="none" strike="noStrike" baseline="0" dirty="0">
                <a:solidFill>
                  <a:srgbClr val="000000"/>
                </a:solidFill>
                <a:latin typeface="Times New Roman" panose="02020603050405020304" pitchFamily="18" charset="0"/>
              </a:rPr>
              <a:t>C. H. Hsieh et al. (2020) </a:t>
            </a:r>
            <a:r>
              <a:rPr lang="en-US" sz="1300" i="0" u="none" strike="noStrike" baseline="0" dirty="0">
                <a:solidFill>
                  <a:srgbClr val="000000"/>
                </a:solidFill>
                <a:latin typeface="Times New Roman" panose="02020603050405020304" pitchFamily="18" charset="0"/>
              </a:rPr>
              <a:t>[2]</a:t>
            </a:r>
          </a:p>
          <a:p>
            <a:pPr>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rPr>
              <a:t> </a:t>
            </a:r>
            <a:r>
              <a:rPr lang="en-US" sz="1900" dirty="0">
                <a:solidFill>
                  <a:srgbClr val="000000"/>
                </a:solidFill>
                <a:latin typeface="Times New Roman" panose="02020603050405020304" pitchFamily="18" charset="0"/>
              </a:rPr>
              <a:t>U</a:t>
            </a:r>
            <a:r>
              <a:rPr lang="en-US" sz="1900" b="0" i="0" u="none" strike="noStrike" baseline="0" dirty="0">
                <a:solidFill>
                  <a:srgbClr val="000000"/>
                </a:solidFill>
                <a:latin typeface="Times New Roman" panose="02020603050405020304" pitchFamily="18" charset="0"/>
              </a:rPr>
              <a:t>sed 1 dimensional Convolutional Neural Network (CNN) to detect Atrial Fibrillation</a:t>
            </a:r>
          </a:p>
          <a:p>
            <a:pPr>
              <a:buFont typeface="Wingdings" panose="05000000000000000000" pitchFamily="2" charset="2"/>
              <a:buChar char="Ø"/>
            </a:pPr>
            <a:r>
              <a:rPr lang="en-US" sz="1900" dirty="0">
                <a:solidFill>
                  <a:srgbClr val="000000"/>
                </a:solidFill>
                <a:latin typeface="Times New Roman" panose="02020603050405020304" pitchFamily="18" charset="0"/>
              </a:rPr>
              <a:t> Physionet Computing in Cardiology challenge 2017 dataset</a:t>
            </a:r>
          </a:p>
          <a:p>
            <a:pPr>
              <a:buFont typeface="Wingdings" panose="05000000000000000000" pitchFamily="2" charset="2"/>
              <a:buChar char="Ø"/>
            </a:pPr>
            <a:r>
              <a:rPr lang="en-US" sz="1900" dirty="0">
                <a:solidFill>
                  <a:srgbClr val="000000"/>
                </a:solidFill>
                <a:latin typeface="Times New Roman" panose="02020603050405020304" pitchFamily="18" charset="0"/>
              </a:rPr>
              <a:t> F1 score : 0.782</a:t>
            </a:r>
          </a:p>
          <a:p>
            <a:pPr>
              <a:buFont typeface="Wingdings" panose="05000000000000000000" pitchFamily="2" charset="2"/>
              <a:buChar char="Ø"/>
            </a:pPr>
            <a:r>
              <a:rPr lang="en-US" sz="1900" dirty="0">
                <a:solidFill>
                  <a:srgbClr val="000000"/>
                </a:solidFill>
                <a:latin typeface="Times New Roman" panose="02020603050405020304" pitchFamily="18" charset="0"/>
              </a:rPr>
              <a:t>Batch normalization layer improved the F1 score by 1.6%</a:t>
            </a:r>
          </a:p>
          <a:p>
            <a:pPr marL="0" indent="0">
              <a:buNone/>
            </a:pPr>
            <a:r>
              <a:rPr lang="en-US" sz="1900" b="1" dirty="0">
                <a:solidFill>
                  <a:srgbClr val="000000"/>
                </a:solidFill>
                <a:latin typeface="Times New Roman" panose="02020603050405020304" pitchFamily="18" charset="0"/>
              </a:rPr>
              <a:t>2) P. </a:t>
            </a:r>
            <a:r>
              <a:rPr lang="en-IN" sz="1900" b="1" i="0" u="none" strike="noStrike" baseline="0" dirty="0">
                <a:solidFill>
                  <a:srgbClr val="000000"/>
                </a:solidFill>
                <a:latin typeface="Times New Roman" panose="02020603050405020304" pitchFamily="18" charset="0"/>
              </a:rPr>
              <a:t>Rajpurkar et al. (2017) </a:t>
            </a:r>
            <a:r>
              <a:rPr lang="en-IN" sz="1900" i="0" u="none" strike="noStrike" baseline="0" dirty="0">
                <a:solidFill>
                  <a:srgbClr val="000000"/>
                </a:solidFill>
                <a:latin typeface="Times New Roman" panose="02020603050405020304" pitchFamily="18" charset="0"/>
              </a:rPr>
              <a:t>[3]</a:t>
            </a:r>
          </a:p>
          <a:p>
            <a:pPr>
              <a:buFont typeface="Wingdings" panose="05000000000000000000" pitchFamily="2" charset="2"/>
              <a:buChar char="Ø"/>
            </a:pPr>
            <a:r>
              <a:rPr lang="en-US" sz="1900" dirty="0">
                <a:solidFill>
                  <a:srgbClr val="000000"/>
                </a:solidFill>
                <a:latin typeface="Times New Roman" panose="02020603050405020304" pitchFamily="18" charset="0"/>
              </a:rPr>
              <a:t>Detected cardiac arrhythmia using CNN with single lead ECG </a:t>
            </a:r>
          </a:p>
          <a:p>
            <a:pPr>
              <a:buFont typeface="Wingdings" panose="05000000000000000000" pitchFamily="2" charset="2"/>
              <a:buChar char="Ø"/>
            </a:pPr>
            <a:r>
              <a:rPr lang="en-US" sz="1900" dirty="0">
                <a:solidFill>
                  <a:srgbClr val="000000"/>
                </a:solidFill>
                <a:latin typeface="Times New Roman" panose="02020603050405020304" pitchFamily="18" charset="0"/>
              </a:rPr>
              <a:t>14 classes including 12 arrhythmias, sinus rhythm and noise</a:t>
            </a:r>
          </a:p>
          <a:p>
            <a:pPr>
              <a:buFont typeface="Wingdings" panose="05000000000000000000" pitchFamily="2" charset="2"/>
              <a:buChar char="Ø"/>
            </a:pPr>
            <a:r>
              <a:rPr lang="en-US" sz="1900" dirty="0">
                <a:solidFill>
                  <a:srgbClr val="000000"/>
                </a:solidFill>
                <a:latin typeface="Times New Roman" panose="02020603050405020304" pitchFamily="18" charset="0"/>
              </a:rPr>
              <a:t>F1 score : 0.776</a:t>
            </a:r>
          </a:p>
          <a:p>
            <a:pPr marL="0" indent="0">
              <a:buNone/>
            </a:pPr>
            <a:r>
              <a:rPr lang="en-US" sz="1900" b="1" dirty="0">
                <a:solidFill>
                  <a:srgbClr val="000000"/>
                </a:solidFill>
                <a:latin typeface="Times New Roman" panose="02020603050405020304" pitchFamily="18" charset="0"/>
              </a:rPr>
              <a:t>3) S. </a:t>
            </a:r>
            <a:r>
              <a:rPr lang="en-IN" sz="1900" b="1" i="0" u="none" strike="noStrike" baseline="0" dirty="0">
                <a:solidFill>
                  <a:srgbClr val="000000"/>
                </a:solidFill>
                <a:latin typeface="Times New Roman" panose="02020603050405020304" pitchFamily="18" charset="0"/>
                <a:cs typeface="Times New Roman" panose="02020603050405020304" pitchFamily="18" charset="0"/>
              </a:rPr>
              <a:t>Nurmaini et al. (2020) </a:t>
            </a:r>
            <a:r>
              <a:rPr lang="en-IN" sz="1900" i="0" u="none" strike="noStrike" baseline="0" dirty="0">
                <a:solidFill>
                  <a:srgbClr val="000000"/>
                </a:solidFill>
                <a:latin typeface="Times New Roman" panose="02020603050405020304" pitchFamily="18" charset="0"/>
                <a:cs typeface="Times New Roman" panose="02020603050405020304" pitchFamily="18" charset="0"/>
              </a:rPr>
              <a:t>[4]</a:t>
            </a:r>
          </a:p>
          <a:p>
            <a:pPr>
              <a:buFont typeface="Wingdings" panose="05000000000000000000" pitchFamily="2" charset="2"/>
              <a:buChar char="Ø"/>
            </a:pPr>
            <a:r>
              <a:rPr lang="en-US" sz="1900" dirty="0">
                <a:solidFill>
                  <a:srgbClr val="000000"/>
                </a:solidFill>
                <a:latin typeface="Times New Roman" panose="02020603050405020304" pitchFamily="18" charset="0"/>
              </a:rPr>
              <a:t>P</a:t>
            </a:r>
            <a:r>
              <a:rPr lang="en-US" sz="1900" b="0" i="0" u="none" strike="noStrike" baseline="0" dirty="0">
                <a:solidFill>
                  <a:srgbClr val="000000"/>
                </a:solidFill>
                <a:latin typeface="Times New Roman" panose="02020603050405020304" pitchFamily="18" charset="0"/>
              </a:rPr>
              <a:t>roposed an ECG classification task by coupling Discrete Wavelet Transform and 1-D CNN using 4 datasets</a:t>
            </a:r>
          </a:p>
          <a:p>
            <a:pPr>
              <a:buFont typeface="Wingdings" panose="05000000000000000000" pitchFamily="2" charset="2"/>
              <a:buChar char="Ø"/>
            </a:pPr>
            <a:r>
              <a:rPr lang="en-US" sz="1900" dirty="0">
                <a:solidFill>
                  <a:srgbClr val="000000"/>
                </a:solidFill>
                <a:latin typeface="Times New Roman" panose="02020603050405020304" pitchFamily="18" charset="0"/>
              </a:rPr>
              <a:t>3 class problem (NSR, AF and NAF)</a:t>
            </a:r>
          </a:p>
          <a:p>
            <a:pPr>
              <a:buFont typeface="Wingdings" panose="05000000000000000000" pitchFamily="2" charset="2"/>
              <a:buChar char="Ø"/>
            </a:pPr>
            <a:r>
              <a:rPr lang="en-US" sz="1900" b="0" i="0" u="none" strike="noStrike" baseline="0" dirty="0">
                <a:solidFill>
                  <a:srgbClr val="000000"/>
                </a:solidFill>
                <a:latin typeface="Times New Roman" panose="02020603050405020304" pitchFamily="18" charset="0"/>
              </a:rPr>
              <a:t> </a:t>
            </a:r>
            <a:r>
              <a:rPr lang="en-US" sz="1900" dirty="0">
                <a:solidFill>
                  <a:srgbClr val="000000"/>
                </a:solidFill>
                <a:latin typeface="Times New Roman" panose="02020603050405020304" pitchFamily="18" charset="0"/>
              </a:rPr>
              <a:t>F1 score : 0.9748</a:t>
            </a:r>
          </a:p>
          <a:p>
            <a:pPr>
              <a:buFont typeface="Wingdings" panose="05000000000000000000" pitchFamily="2" charset="2"/>
              <a:buChar char="Ø"/>
            </a:pPr>
            <a:endParaRPr lang="en-US" sz="1800" b="1"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latin typeface="Times New Roman" panose="02020603050405020304" pitchFamily="18" charset="0"/>
            </a:endParaRPr>
          </a:p>
          <a:p>
            <a:pPr>
              <a:buFont typeface="Wingdings" panose="05000000000000000000" pitchFamily="2" charset="2"/>
              <a:buChar char="Ø"/>
            </a:pPr>
            <a:endParaRPr lang="en-US" sz="1800" dirty="0">
              <a:solidFill>
                <a:srgbClr val="000000"/>
              </a:solidFill>
              <a:latin typeface="Times New Roman" panose="02020603050405020304" pitchFamily="18" charset="0"/>
            </a:endParaRPr>
          </a:p>
          <a:p>
            <a:pPr marL="0" indent="0">
              <a:buNone/>
            </a:pPr>
            <a:endParaRPr lang="en-US" sz="1800" dirty="0">
              <a:solidFill>
                <a:srgbClr val="000000"/>
              </a:solidFill>
              <a:latin typeface="Times New Roman" panose="02020603050405020304" pitchFamily="18" charset="0"/>
            </a:endParaRPr>
          </a:p>
          <a:p>
            <a:pPr>
              <a:buFont typeface="Wingdings" panose="05000000000000000000" pitchFamily="2" charset="2"/>
              <a:buChar char="§"/>
            </a:pPr>
            <a:endParaRPr lang="en-IN" dirty="0"/>
          </a:p>
        </p:txBody>
      </p:sp>
      <p:sp>
        <p:nvSpPr>
          <p:cNvPr id="4" name="Slide Number Placeholder 3">
            <a:extLst>
              <a:ext uri="{FF2B5EF4-FFF2-40B4-BE49-F238E27FC236}">
                <a16:creationId xmlns:a16="http://schemas.microsoft.com/office/drawing/2014/main" id="{1190D8EA-8DB6-9F90-0BF9-F1AE9947B0EE}"/>
              </a:ext>
            </a:extLst>
          </p:cNvPr>
          <p:cNvSpPr>
            <a:spLocks noGrp="1"/>
          </p:cNvSpPr>
          <p:nvPr>
            <p:ph type="sldNum" sz="quarter" idx="12"/>
          </p:nvPr>
        </p:nvSpPr>
        <p:spPr/>
        <p:txBody>
          <a:bodyPr/>
          <a:lstStyle/>
          <a:p>
            <a:fld id="{6C5FC05A-C924-4EE5-A853-ADA77C45D7CF}" type="slidenum">
              <a:rPr lang="en-IN" smtClean="0"/>
              <a:t>4</a:t>
            </a:fld>
            <a:endParaRPr lang="en-IN"/>
          </a:p>
        </p:txBody>
      </p:sp>
      <p:sp>
        <p:nvSpPr>
          <p:cNvPr id="6" name="TextBox 5">
            <a:extLst>
              <a:ext uri="{FF2B5EF4-FFF2-40B4-BE49-F238E27FC236}">
                <a16:creationId xmlns:a16="http://schemas.microsoft.com/office/drawing/2014/main" id="{40879F67-BD61-2051-C191-BF6F022C887F}"/>
              </a:ext>
            </a:extLst>
          </p:cNvPr>
          <p:cNvSpPr txBox="1"/>
          <p:nvPr/>
        </p:nvSpPr>
        <p:spPr>
          <a:xfrm>
            <a:off x="944880" y="5760720"/>
            <a:ext cx="10078720" cy="523220"/>
          </a:xfrm>
          <a:prstGeom prst="rect">
            <a:avLst/>
          </a:prstGeom>
          <a:noFill/>
        </p:spPr>
        <p:txBody>
          <a:bodyPr wrap="square" rtlCol="0">
            <a:spAutoFit/>
          </a:bodyPr>
          <a:lstStyle/>
          <a:p>
            <a:r>
              <a:rPr lang="en-IN" sz="1000" b="0" i="0" u="none" strike="noStrike" baseline="0" dirty="0">
                <a:solidFill>
                  <a:srgbClr val="000000"/>
                </a:solidFill>
                <a:latin typeface="Times New Roman" panose="02020603050405020304" pitchFamily="18" charset="0"/>
              </a:rPr>
              <a:t>[2] C. H. Hsieh, Y.-S. Li, B.-J. Hwang, and C.-H. Hsiao, ‘Detection of atrial fibrillation using 1D convolutional neural network’, Sensors (Basel), vol. 20, no. 7, p. 2136, 2020. </a:t>
            </a:r>
          </a:p>
          <a:p>
            <a:r>
              <a:rPr lang="en-IN" sz="900" b="0" i="0" u="none" strike="noStrike" baseline="0" dirty="0">
                <a:solidFill>
                  <a:srgbClr val="000000"/>
                </a:solidFill>
                <a:latin typeface="Times New Roman" panose="02020603050405020304" pitchFamily="18" charset="0"/>
              </a:rPr>
              <a:t>[3]  P. Rajpurkar, A. Y. Hannun, M. Haghpanahi, C. Bourn, and A. Y. Ng, ‘Cardiologist-level arrhythmia detection with convolutional neural networks’, arXiv [cs.CV], 2017. </a:t>
            </a:r>
          </a:p>
          <a:p>
            <a:r>
              <a:rPr lang="en-IN" sz="900" b="0" i="0" u="none" strike="noStrike" baseline="0" dirty="0">
                <a:solidFill>
                  <a:srgbClr val="000000"/>
                </a:solidFill>
                <a:latin typeface="Times New Roman" panose="02020603050405020304" pitchFamily="18" charset="0"/>
              </a:rPr>
              <a:t>[4] S. Nurmaini et al., ‘Robust detection of atrial fibrillation from short-term electrocardiogram using convolutional neural networks’, Future Gener. Comput. Syst., vol. 113, pp. 304–317, 2020. </a:t>
            </a:r>
            <a:endParaRPr lang="en-IN" sz="900" dirty="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C1F0FFC4-6B8B-D97B-8886-4FE60D361BF7}"/>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073BD80-5265-D9B6-8AA4-FEDAC257094B}"/>
              </a:ext>
            </a:extLst>
          </p:cNvPr>
          <p:cNvCxnSpPr/>
          <p:nvPr/>
        </p:nvCxnSpPr>
        <p:spPr>
          <a:xfrm>
            <a:off x="-1" y="678688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3086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67CB-6E44-AB2B-98A6-7E8F386D4AE4}"/>
              </a:ext>
            </a:extLst>
          </p:cNvPr>
          <p:cNvSpPr>
            <a:spLocks noGrp="1"/>
          </p:cNvSpPr>
          <p:nvPr>
            <p:ph type="title"/>
          </p:nvPr>
        </p:nvSpPr>
        <p:spPr>
          <a:xfrm>
            <a:off x="314960" y="253365"/>
            <a:ext cx="11038840" cy="1325563"/>
          </a:xfrm>
        </p:spPr>
        <p:txBody>
          <a:bodyPr/>
          <a:lstStyle/>
          <a:p>
            <a:pPr algn="ctr"/>
            <a:r>
              <a:rPr lang="en-IN" sz="4400" u="sng" dirty="0">
                <a:solidFill>
                  <a:schemeClr val="tx2">
                    <a:lumMod val="75000"/>
                  </a:schemeClr>
                </a:solidFill>
                <a:latin typeface="Times New Roman" panose="02020603050405020304" pitchFamily="18" charset="0"/>
                <a:cs typeface="Times New Roman" panose="02020603050405020304" pitchFamily="18" charset="0"/>
              </a:rPr>
              <a:t>Dataset Description</a:t>
            </a:r>
            <a:endParaRPr lang="en-IN" dirty="0"/>
          </a:p>
        </p:txBody>
      </p:sp>
      <p:sp>
        <p:nvSpPr>
          <p:cNvPr id="3" name="Content Placeholder 2">
            <a:extLst>
              <a:ext uri="{FF2B5EF4-FFF2-40B4-BE49-F238E27FC236}">
                <a16:creationId xmlns:a16="http://schemas.microsoft.com/office/drawing/2014/main" id="{B9BDE347-63D6-0A32-9516-D20A6D038D69}"/>
              </a:ext>
            </a:extLst>
          </p:cNvPr>
          <p:cNvSpPr>
            <a:spLocks noGrp="1"/>
          </p:cNvSpPr>
          <p:nvPr>
            <p:ph sz="half" idx="1"/>
          </p:nvPr>
        </p:nvSpPr>
        <p:spPr>
          <a:xfrm>
            <a:off x="233680" y="1825625"/>
            <a:ext cx="5786120" cy="4219572"/>
          </a:xfrm>
        </p:spPr>
        <p:txBody>
          <a:bodyPr>
            <a:normAutofit lnSpcReduction="10000"/>
          </a:bodyPr>
          <a:lstStyle/>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Physionet Computing in Cardiology 2017 challenge dataset </a:t>
            </a:r>
            <a:r>
              <a:rPr lang="en-IN" sz="1200" dirty="0">
                <a:latin typeface="Times New Roman" panose="02020603050405020304" pitchFamily="18" charset="0"/>
                <a:cs typeface="Times New Roman" panose="02020603050405020304" pitchFamily="18" charset="0"/>
              </a:rPr>
              <a:t>[5]</a:t>
            </a:r>
          </a:p>
          <a:p>
            <a:pPr>
              <a:buFont typeface="Wingdings" panose="05000000000000000000" pitchFamily="2" charset="2"/>
              <a:buChar char="§"/>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Dataset consists of 8528 </a:t>
            </a:r>
            <a:r>
              <a:rPr lang="en-IN" sz="2400" dirty="0">
                <a:solidFill>
                  <a:srgbClr val="000000"/>
                </a:solidFill>
                <a:latin typeface="Times New Roman" panose="02020603050405020304" pitchFamily="18" charset="0"/>
                <a:cs typeface="Times New Roman" panose="02020603050405020304" pitchFamily="18" charset="0"/>
              </a:rPr>
              <a:t>ECG</a:t>
            </a:r>
            <a:r>
              <a:rPr lang="en-IN" sz="2400" b="0" i="0" u="none" strike="noStrike" dirty="0">
                <a:solidFill>
                  <a:srgbClr val="000000"/>
                </a:solidFill>
                <a:effectLst/>
                <a:latin typeface="Times New Roman" panose="02020603050405020304" pitchFamily="18" charset="0"/>
                <a:cs typeface="Times New Roman" panose="02020603050405020304" pitchFamily="18" charset="0"/>
              </a:rPr>
              <a:t> recordings collected using an Alivecor hand-held device</a:t>
            </a:r>
          </a:p>
          <a:p>
            <a:pPr>
              <a:buFont typeface="Wingdings" panose="05000000000000000000" pitchFamily="2" charset="2"/>
              <a:buChar char="§"/>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Each single lead ECG recording is sampled at 300 Hz and of varying length between 9 seconds and 61 seconds</a:t>
            </a:r>
            <a:endParaRPr lang="en-IN" sz="24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400" b="0" i="0" u="none" strike="noStrike" dirty="0">
                <a:solidFill>
                  <a:srgbClr val="000000"/>
                </a:solidFill>
                <a:effectLst/>
                <a:latin typeface="Times New Roman" panose="02020603050405020304" pitchFamily="18" charset="0"/>
                <a:cs typeface="Times New Roman" panose="02020603050405020304" pitchFamily="18" charset="0"/>
              </a:rPr>
              <a:t>Corresponding to each recording, there is a .mat file containing the ECG data and a header file containing the waveform information</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graphicFrame>
        <p:nvGraphicFramePr>
          <p:cNvPr id="5" name="Content Placeholder 3">
            <a:extLst>
              <a:ext uri="{FF2B5EF4-FFF2-40B4-BE49-F238E27FC236}">
                <a16:creationId xmlns:a16="http://schemas.microsoft.com/office/drawing/2014/main" id="{49B5F41A-5DE7-16AD-88C1-3A283256EC3B}"/>
              </a:ext>
            </a:extLst>
          </p:cNvPr>
          <p:cNvGraphicFramePr>
            <a:graphicFrameLocks noGrp="1"/>
          </p:cNvGraphicFramePr>
          <p:nvPr>
            <p:ph sz="half" idx="2"/>
            <p:extLst>
              <p:ext uri="{D42A27DB-BD31-4B8C-83A1-F6EECF244321}">
                <p14:modId xmlns:p14="http://schemas.microsoft.com/office/powerpoint/2010/main" val="186439480"/>
              </p:ext>
            </p:extLst>
          </p:nvPr>
        </p:nvGraphicFramePr>
        <p:xfrm>
          <a:off x="6172200" y="1825625"/>
          <a:ext cx="5786120" cy="3894455"/>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a:extLst>
              <a:ext uri="{FF2B5EF4-FFF2-40B4-BE49-F238E27FC236}">
                <a16:creationId xmlns:a16="http://schemas.microsoft.com/office/drawing/2014/main" id="{CE5F1BEE-50CE-5E1D-D498-C77D6DD3AEA3}"/>
              </a:ext>
            </a:extLst>
          </p:cNvPr>
          <p:cNvCxnSpPr/>
          <p:nvPr/>
        </p:nvCxnSpPr>
        <p:spPr>
          <a:xfrm>
            <a:off x="0" y="6786880"/>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AF68C45-6DE0-5FAA-2E81-F50465912794}"/>
              </a:ext>
            </a:extLst>
          </p:cNvPr>
          <p:cNvCxnSpPr/>
          <p:nvPr/>
        </p:nvCxnSpPr>
        <p:spPr>
          <a:xfrm>
            <a:off x="0"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2EC2EAC3-4C85-E34E-243B-73F569E896A0}"/>
              </a:ext>
            </a:extLst>
          </p:cNvPr>
          <p:cNvSpPr>
            <a:spLocks noGrp="1"/>
          </p:cNvSpPr>
          <p:nvPr>
            <p:ph type="sldNum" sz="quarter" idx="12"/>
          </p:nvPr>
        </p:nvSpPr>
        <p:spPr/>
        <p:txBody>
          <a:bodyPr/>
          <a:lstStyle/>
          <a:p>
            <a:fld id="{6C5FC05A-C924-4EE5-A853-ADA77C45D7CF}" type="slidenum">
              <a:rPr lang="en-IN" sz="2000" smtClean="0">
                <a:solidFill>
                  <a:schemeClr val="tx1"/>
                </a:solidFill>
              </a:rPr>
              <a:t>5</a:t>
            </a:fld>
            <a:endParaRPr lang="en-IN" sz="2000" dirty="0">
              <a:solidFill>
                <a:schemeClr val="tx1"/>
              </a:solidFill>
            </a:endParaRPr>
          </a:p>
        </p:txBody>
      </p:sp>
      <p:sp>
        <p:nvSpPr>
          <p:cNvPr id="8" name="TextBox 7">
            <a:extLst>
              <a:ext uri="{FF2B5EF4-FFF2-40B4-BE49-F238E27FC236}">
                <a16:creationId xmlns:a16="http://schemas.microsoft.com/office/drawing/2014/main" id="{D8BB9185-E25E-7C00-6A7F-71591CCB0111}"/>
              </a:ext>
            </a:extLst>
          </p:cNvPr>
          <p:cNvSpPr txBox="1"/>
          <p:nvPr/>
        </p:nvSpPr>
        <p:spPr>
          <a:xfrm>
            <a:off x="563880" y="6261708"/>
            <a:ext cx="7020560" cy="400110"/>
          </a:xfrm>
          <a:prstGeom prst="rect">
            <a:avLst/>
          </a:prstGeom>
          <a:noFill/>
        </p:spPr>
        <p:txBody>
          <a:bodyPr wrap="square" rtlCol="0">
            <a:spAutoFit/>
          </a:bodyPr>
          <a:lstStyle/>
          <a:p>
            <a:r>
              <a:rPr lang="en-US" sz="1000" b="0" i="0" u="none" strike="noStrike" baseline="0" dirty="0">
                <a:solidFill>
                  <a:srgbClr val="000000"/>
                </a:solidFill>
                <a:latin typeface="Times New Roman" panose="02020603050405020304" pitchFamily="18" charset="0"/>
              </a:rPr>
              <a:t>[5] ‘</a:t>
            </a:r>
            <a:r>
              <a:rPr lang="en-US" sz="1000" b="0" i="0" u="none" strike="noStrike" baseline="0" dirty="0" err="1">
                <a:solidFill>
                  <a:srgbClr val="000000"/>
                </a:solidFill>
                <a:latin typeface="Times New Roman" panose="02020603050405020304" pitchFamily="18" charset="0"/>
              </a:rPr>
              <a:t>PhysioNet</a:t>
            </a:r>
            <a:r>
              <a:rPr lang="en-US" sz="1000" b="0" i="0" u="none" strike="noStrike" baseline="0" dirty="0">
                <a:solidFill>
                  <a:srgbClr val="000000"/>
                </a:solidFill>
                <a:latin typeface="Times New Roman" panose="02020603050405020304" pitchFamily="18" charset="0"/>
              </a:rPr>
              <a:t>/</a:t>
            </a:r>
            <a:r>
              <a:rPr lang="en-US" sz="1000" b="0" i="0" u="none" strike="noStrike" baseline="0" dirty="0" err="1">
                <a:solidFill>
                  <a:srgbClr val="000000"/>
                </a:solidFill>
                <a:latin typeface="Times New Roman" panose="02020603050405020304" pitchFamily="18" charset="0"/>
              </a:rPr>
              <a:t>CinC</a:t>
            </a:r>
            <a:r>
              <a:rPr lang="en-US" sz="1000" b="0" i="0" u="none" strike="noStrike" baseline="0" dirty="0">
                <a:solidFill>
                  <a:srgbClr val="000000"/>
                </a:solidFill>
                <a:latin typeface="Times New Roman" panose="02020603050405020304" pitchFamily="18" charset="0"/>
              </a:rPr>
              <a:t> challenge 2017: Training sets’, Physionet.org. [Online]. Available: https://archive.physionet.org/physiobank/database/challenge/2017/. [Accessed: 04-Sep-2023]</a:t>
            </a:r>
          </a:p>
        </p:txBody>
      </p:sp>
    </p:spTree>
    <p:extLst>
      <p:ext uri="{BB962C8B-B14F-4D97-AF65-F5344CB8AC3E}">
        <p14:creationId xmlns:p14="http://schemas.microsoft.com/office/powerpoint/2010/main" val="1596135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89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6982-353F-2E8A-86F7-BF5D3AE22143}"/>
              </a:ext>
            </a:extLst>
          </p:cNvPr>
          <p:cNvSpPr>
            <a:spLocks noGrp="1"/>
          </p:cNvSpPr>
          <p:nvPr>
            <p:ph type="title"/>
          </p:nvPr>
        </p:nvSpPr>
        <p:spPr/>
        <p:txBody>
          <a:bodyPr>
            <a:normAutofit/>
          </a:bodyPr>
          <a:lstStyle/>
          <a:p>
            <a:pPr algn="ctr"/>
            <a:r>
              <a:rPr lang="en-IN" sz="4000" u="sng" dirty="0">
                <a:solidFill>
                  <a:schemeClr val="tx2">
                    <a:lumMod val="75000"/>
                  </a:schemeClr>
                </a:solidFill>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21FEE85D-EFC5-214A-8F98-07C8BD43A3FD}"/>
              </a:ext>
            </a:extLst>
          </p:cNvPr>
          <p:cNvSpPr>
            <a:spLocks noGrp="1"/>
          </p:cNvSpPr>
          <p:nvPr>
            <p:ph idx="1"/>
          </p:nvPr>
        </p:nvSpPr>
        <p:spPr>
          <a:xfrm>
            <a:off x="838200" y="1463043"/>
            <a:ext cx="10515600" cy="4713920"/>
          </a:xfrm>
        </p:spPr>
        <p:txBody>
          <a:bodyPr/>
          <a:lstStyle/>
          <a:p>
            <a:pPr marL="0" indent="0">
              <a:buNone/>
            </a:pPr>
            <a:r>
              <a:rPr lang="en-IN" dirty="0">
                <a:solidFill>
                  <a:schemeClr val="accent1">
                    <a:lumMod val="75000"/>
                  </a:schemeClr>
                </a:solidFill>
                <a:latin typeface="Times New Roman" panose="02020603050405020304" pitchFamily="18" charset="0"/>
                <a:cs typeface="Times New Roman" panose="02020603050405020304" pitchFamily="18" charset="0"/>
              </a:rPr>
              <a:t>                                          PRE-PROCESSING</a:t>
            </a:r>
          </a:p>
          <a:p>
            <a:pPr marL="0" indent="0">
              <a:buNone/>
            </a:pP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endParaRPr lang="en-IN" dirty="0">
              <a:solidFill>
                <a:schemeClr val="accent1">
                  <a:lumMod val="75000"/>
                </a:schemeClr>
              </a:solidFill>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E11F051-7DDE-1521-BD01-ADBEC7EBD408}"/>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75337E2-5C1D-05ED-EA31-AEB67207EA67}"/>
              </a:ext>
            </a:extLst>
          </p:cNvPr>
          <p:cNvCxnSpPr/>
          <p:nvPr/>
        </p:nvCxnSpPr>
        <p:spPr>
          <a:xfrm>
            <a:off x="0" y="6776720"/>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42097E3C-DD35-FD78-AB56-928F4B2ED834}"/>
              </a:ext>
            </a:extLst>
          </p:cNvPr>
          <p:cNvSpPr>
            <a:spLocks noGrp="1"/>
          </p:cNvSpPr>
          <p:nvPr>
            <p:ph type="sldNum" sz="quarter" idx="12"/>
          </p:nvPr>
        </p:nvSpPr>
        <p:spPr/>
        <p:txBody>
          <a:bodyPr/>
          <a:lstStyle/>
          <a:p>
            <a:fld id="{6C5FC05A-C924-4EE5-A853-ADA77C45D7CF}" type="slidenum">
              <a:rPr lang="en-IN" sz="2000" smtClean="0">
                <a:solidFill>
                  <a:schemeClr val="tx1"/>
                </a:solidFill>
              </a:rPr>
              <a:t>6</a:t>
            </a:fld>
            <a:endParaRPr lang="en-IN" sz="2000" dirty="0">
              <a:solidFill>
                <a:schemeClr val="tx1"/>
              </a:solidFill>
            </a:endParaRPr>
          </a:p>
        </p:txBody>
      </p:sp>
      <p:sp>
        <p:nvSpPr>
          <p:cNvPr id="8" name="Rectangle 7">
            <a:extLst>
              <a:ext uri="{FF2B5EF4-FFF2-40B4-BE49-F238E27FC236}">
                <a16:creationId xmlns:a16="http://schemas.microsoft.com/office/drawing/2014/main" id="{218A974C-D457-A43D-E21B-EE7B841CB407}"/>
              </a:ext>
            </a:extLst>
          </p:cNvPr>
          <p:cNvSpPr/>
          <p:nvPr/>
        </p:nvSpPr>
        <p:spPr>
          <a:xfrm>
            <a:off x="263208" y="3048001"/>
            <a:ext cx="2534920" cy="61944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DENOISING</a:t>
            </a:r>
            <a:endParaRPr lang="en-IN" sz="2000" kern="100" dirty="0">
              <a:effectLst/>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B6804F19-D534-9107-D481-2F251ECEC7D1}"/>
              </a:ext>
            </a:extLst>
          </p:cNvPr>
          <p:cNvSpPr/>
          <p:nvPr/>
        </p:nvSpPr>
        <p:spPr>
          <a:xfrm>
            <a:off x="3132773" y="3048001"/>
            <a:ext cx="3384232" cy="62039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BASELINE WANDER REMOVAL</a:t>
            </a:r>
            <a:endParaRPr lang="en-IN" sz="2000" kern="100" dirty="0">
              <a:effectLs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F62C9B23-05B3-D9FD-2E89-231BA5F35607}"/>
              </a:ext>
            </a:extLst>
          </p:cNvPr>
          <p:cNvSpPr/>
          <p:nvPr/>
        </p:nvSpPr>
        <p:spPr>
          <a:xfrm>
            <a:off x="9549764" y="3048002"/>
            <a:ext cx="2496503" cy="620393"/>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RESAMPLING</a:t>
            </a:r>
            <a:endParaRPr lang="en-IN" sz="2000" kern="100" dirty="0">
              <a:effectLst/>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A58000F1-AF16-DF75-5FDD-E3CB17BB41E2}"/>
              </a:ext>
            </a:extLst>
          </p:cNvPr>
          <p:cNvSpPr/>
          <p:nvPr/>
        </p:nvSpPr>
        <p:spPr>
          <a:xfrm>
            <a:off x="6851650" y="3048001"/>
            <a:ext cx="2363470" cy="62039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NORMALIZATION</a:t>
            </a:r>
            <a:endParaRPr lang="en-IN" sz="2000" kern="100" dirty="0">
              <a:effectLst/>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5FFB9C17-674B-51B6-91DD-213C07CB0248}"/>
              </a:ext>
            </a:extLst>
          </p:cNvPr>
          <p:cNvSpPr/>
          <p:nvPr/>
        </p:nvSpPr>
        <p:spPr>
          <a:xfrm>
            <a:off x="265272" y="4568191"/>
            <a:ext cx="2534920" cy="61944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ECG DATA</a:t>
            </a:r>
            <a:endParaRPr lang="en-IN" sz="2000" kern="100" dirty="0">
              <a:effectLst/>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73706004-6340-6CF8-70BC-CE9C0AEE248B}"/>
              </a:ext>
            </a:extLst>
          </p:cNvPr>
          <p:cNvSpPr/>
          <p:nvPr/>
        </p:nvSpPr>
        <p:spPr>
          <a:xfrm>
            <a:off x="9511348" y="4568191"/>
            <a:ext cx="2534920" cy="61944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PRE-PROCESSED DATA</a:t>
            </a:r>
            <a:endParaRPr lang="en-IN" sz="2000" kern="100" dirty="0">
              <a:effectLst/>
              <a:ea typeface="Calibri" panose="020F0502020204030204" pitchFamily="34" charset="0"/>
              <a:cs typeface="Times New Roman" panose="02020603050405020304" pitchFamily="18" charset="0"/>
            </a:endParaRPr>
          </a:p>
        </p:txBody>
      </p:sp>
      <p:cxnSp>
        <p:nvCxnSpPr>
          <p:cNvPr id="20" name="Straight Arrow Connector 19">
            <a:extLst>
              <a:ext uri="{FF2B5EF4-FFF2-40B4-BE49-F238E27FC236}">
                <a16:creationId xmlns:a16="http://schemas.microsoft.com/office/drawing/2014/main" id="{7CFCA54B-A719-8D21-85B6-50FABD9A5EE3}"/>
              </a:ext>
            </a:extLst>
          </p:cNvPr>
          <p:cNvCxnSpPr>
            <a:stCxn id="8" idx="3"/>
            <a:endCxn id="9" idx="1"/>
          </p:cNvCxnSpPr>
          <p:nvPr/>
        </p:nvCxnSpPr>
        <p:spPr>
          <a:xfrm>
            <a:off x="2798128" y="3357722"/>
            <a:ext cx="334645" cy="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D76D5CD-6BF4-8855-A3CA-170ECA7DA216}"/>
              </a:ext>
            </a:extLst>
          </p:cNvPr>
          <p:cNvCxnSpPr>
            <a:stCxn id="9" idx="3"/>
            <a:endCxn id="11" idx="1"/>
          </p:cNvCxnSpPr>
          <p:nvPr/>
        </p:nvCxnSpPr>
        <p:spPr>
          <a:xfrm flipV="1">
            <a:off x="6517005" y="3358197"/>
            <a:ext cx="3346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BE83EE6-B366-FC81-0DF7-1BF5F77AD9A5}"/>
              </a:ext>
            </a:extLst>
          </p:cNvPr>
          <p:cNvCxnSpPr>
            <a:cxnSpLocks/>
            <a:stCxn id="11" idx="3"/>
            <a:endCxn id="10" idx="1"/>
          </p:cNvCxnSpPr>
          <p:nvPr/>
        </p:nvCxnSpPr>
        <p:spPr>
          <a:xfrm>
            <a:off x="9215120" y="3358197"/>
            <a:ext cx="33464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00C22C2-3F8E-6A24-D1EE-576BF85D0EAB}"/>
              </a:ext>
            </a:extLst>
          </p:cNvPr>
          <p:cNvCxnSpPr>
            <a:cxnSpLocks/>
          </p:cNvCxnSpPr>
          <p:nvPr/>
        </p:nvCxnSpPr>
        <p:spPr>
          <a:xfrm>
            <a:off x="10634980" y="3667443"/>
            <a:ext cx="0" cy="899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8A1B62C-D287-0B54-6AC6-664EDF7149C0}"/>
              </a:ext>
            </a:extLst>
          </p:cNvPr>
          <p:cNvCxnSpPr>
            <a:stCxn id="15" idx="0"/>
            <a:endCxn id="8" idx="2"/>
          </p:cNvCxnSpPr>
          <p:nvPr/>
        </p:nvCxnSpPr>
        <p:spPr>
          <a:xfrm flipH="1" flipV="1">
            <a:off x="1530668" y="3667443"/>
            <a:ext cx="2064" cy="900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9745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3E67D-6022-9291-6CDF-2AEDA1A58250}"/>
              </a:ext>
            </a:extLst>
          </p:cNvPr>
          <p:cNvSpPr>
            <a:spLocks noGrp="1"/>
          </p:cNvSpPr>
          <p:nvPr>
            <p:ph type="title"/>
          </p:nvPr>
        </p:nvSpPr>
        <p:spPr/>
        <p:txBody>
          <a:bodyPr/>
          <a:lstStyle/>
          <a:p>
            <a:pPr algn="ctr"/>
            <a:r>
              <a:rPr lang="en-IN" dirty="0">
                <a:solidFill>
                  <a:schemeClr val="accent1">
                    <a:lumMod val="75000"/>
                  </a:schemeClr>
                </a:solidFill>
                <a:latin typeface="Times New Roman" panose="02020603050405020304" pitchFamily="18" charset="0"/>
                <a:cs typeface="Times New Roman" panose="02020603050405020304" pitchFamily="18" charset="0"/>
              </a:rPr>
              <a:t>PRE-PROCESSING</a:t>
            </a:r>
            <a:br>
              <a:rPr lang="en-IN" dirty="0">
                <a:solidFill>
                  <a:schemeClr val="accent1">
                    <a:lumMod val="75000"/>
                  </a:schemeClr>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34EBCDE-3A63-C412-94AC-CECC2B9CB79A}"/>
              </a:ext>
            </a:extLst>
          </p:cNvPr>
          <p:cNvSpPr>
            <a:spLocks noGrp="1"/>
          </p:cNvSpPr>
          <p:nvPr>
            <p:ph sz="half" idx="1"/>
          </p:nvPr>
        </p:nvSpPr>
        <p:spPr>
          <a:xfrm>
            <a:off x="838200" y="1825625"/>
            <a:ext cx="5339080" cy="4351338"/>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DENOISING</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Mains noise interference is commonly found in ECG recordings</a:t>
            </a:r>
            <a:r>
              <a:rPr lang="en-IN" sz="1200" dirty="0">
                <a:latin typeface="Times New Roman" panose="02020603050405020304" pitchFamily="18" charset="0"/>
                <a:cs typeface="Times New Roman" panose="02020603050405020304" pitchFamily="18" charset="0"/>
              </a:rPr>
              <a:t> [6]</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Main noise interference occurs at a frequency of 50Hz (EU) or 60Hz (US), depending on where it is recorded</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Notch filter with band stop frequency of 50 Hz applied on the raw ECG data </a:t>
            </a: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7F2B8D7-960F-1963-3430-F8A8B6EB8145}"/>
              </a:ext>
            </a:extLst>
          </p:cNvPr>
          <p:cNvSpPr>
            <a:spLocks noGrp="1"/>
          </p:cNvSpPr>
          <p:nvPr>
            <p:ph sz="half" idx="2"/>
          </p:nvPr>
        </p:nvSpPr>
        <p:spPr>
          <a:xfrm>
            <a:off x="6350000" y="1805305"/>
            <a:ext cx="5740400" cy="4351338"/>
          </a:xfrm>
        </p:spPr>
        <p:txBody>
          <a:bodyPr/>
          <a:lstStyle/>
          <a:p>
            <a:pPr marL="0" indent="0" algn="ctr">
              <a:buNone/>
            </a:pPr>
            <a:r>
              <a:rPr lang="en-IN" u="sng" dirty="0">
                <a:latin typeface="Times New Roman" panose="02020603050405020304" pitchFamily="18" charset="0"/>
                <a:cs typeface="Times New Roman" panose="02020603050405020304" pitchFamily="18" charset="0"/>
              </a:rPr>
              <a:t>BASELINE WANDER </a:t>
            </a:r>
          </a:p>
          <a:p>
            <a:pPr marL="0" indent="0" algn="ctr">
              <a:buNone/>
            </a:pPr>
            <a:r>
              <a:rPr lang="en-IN" u="sng" dirty="0">
                <a:latin typeface="Times New Roman" panose="02020603050405020304" pitchFamily="18" charset="0"/>
                <a:cs typeface="Times New Roman" panose="02020603050405020304" pitchFamily="18" charset="0"/>
              </a:rPr>
              <a:t>REMOVAL</a:t>
            </a:r>
          </a:p>
          <a:p>
            <a:pPr algn="l" rtl="0" fontAlgn="base">
              <a:buFont typeface="Wingdings" panose="05000000000000000000" pitchFamily="2" charset="2"/>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Baseline is a flat reference signal of ECG that represents the potential of the heart when there is no specific cardiac activity</a:t>
            </a:r>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rtl="0" fontAlgn="base">
              <a:buFont typeface="Wingdings" panose="05000000000000000000" pitchFamily="2" charset="2"/>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Butterworth high pass filter with order 2 and cutoff frequency 0.1 is applied on the denoised signal to remove baseline wander </a:t>
            </a:r>
            <a:endParaRPr lang="en-US" sz="2000" b="0" i="0" dirty="0">
              <a:solidFill>
                <a:srgbClr val="000000"/>
              </a:solidFill>
              <a:effectLst/>
              <a:latin typeface="Times New Roman" panose="02020603050405020304" pitchFamily="18" charset="0"/>
              <a:cs typeface="Times New Roman" panose="02020603050405020304" pitchFamily="18" charset="0"/>
            </a:endParaRPr>
          </a:p>
          <a:p>
            <a:pPr marL="0" indent="0">
              <a:buNone/>
            </a:pPr>
            <a:endParaRPr lang="en-IN" u="sng" dirty="0">
              <a:latin typeface="Times New Roman" panose="02020603050405020304" pitchFamily="18" charset="0"/>
              <a:cs typeface="Times New Roman" panose="02020603050405020304" pitchFamily="18" charset="0"/>
            </a:endParaRPr>
          </a:p>
          <a:p>
            <a:pPr marL="0" indent="0" algn="ctr">
              <a:buNone/>
            </a:pPr>
            <a:endParaRPr lang="en-IN" u="sng"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7072C62-8E19-F778-58A2-ED1B82BA6AF8}"/>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9C4E877-0937-7ED0-FC69-DE2937C4DA76}"/>
              </a:ext>
            </a:extLst>
          </p:cNvPr>
          <p:cNvCxnSpPr/>
          <p:nvPr/>
        </p:nvCxnSpPr>
        <p:spPr>
          <a:xfrm>
            <a:off x="-1" y="678688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3F30DEE1-24D5-46D5-6A78-5E7CCC9604D9}"/>
              </a:ext>
            </a:extLst>
          </p:cNvPr>
          <p:cNvSpPr>
            <a:spLocks noGrp="1"/>
          </p:cNvSpPr>
          <p:nvPr>
            <p:ph type="sldNum" sz="quarter" idx="12"/>
          </p:nvPr>
        </p:nvSpPr>
        <p:spPr/>
        <p:txBody>
          <a:bodyPr/>
          <a:lstStyle/>
          <a:p>
            <a:fld id="{6C5FC05A-C924-4EE5-A853-ADA77C45D7CF}" type="slidenum">
              <a:rPr lang="en-IN" sz="2000" smtClean="0">
                <a:solidFill>
                  <a:schemeClr val="tx1"/>
                </a:solidFill>
              </a:rPr>
              <a:t>7</a:t>
            </a:fld>
            <a:endParaRPr lang="en-IN" sz="2000" dirty="0">
              <a:solidFill>
                <a:schemeClr val="tx1"/>
              </a:solidFill>
            </a:endParaRPr>
          </a:p>
        </p:txBody>
      </p:sp>
      <p:sp>
        <p:nvSpPr>
          <p:cNvPr id="8" name="TextBox 7">
            <a:extLst>
              <a:ext uri="{FF2B5EF4-FFF2-40B4-BE49-F238E27FC236}">
                <a16:creationId xmlns:a16="http://schemas.microsoft.com/office/drawing/2014/main" id="{C8690122-1E6B-D2FD-EDB8-04E6CD0ABD5C}"/>
              </a:ext>
            </a:extLst>
          </p:cNvPr>
          <p:cNvSpPr txBox="1"/>
          <p:nvPr/>
        </p:nvSpPr>
        <p:spPr>
          <a:xfrm>
            <a:off x="985520" y="6156643"/>
            <a:ext cx="9469120" cy="246221"/>
          </a:xfrm>
          <a:prstGeom prst="rect">
            <a:avLst/>
          </a:prstGeom>
          <a:noFill/>
        </p:spPr>
        <p:txBody>
          <a:bodyPr wrap="square" rtlCol="0">
            <a:spAutoFit/>
          </a:bodyPr>
          <a:lstStyle/>
          <a:p>
            <a:r>
              <a:rPr lang="en-US" sz="1000" b="0" i="0" u="none" strike="noStrike" baseline="0" dirty="0">
                <a:solidFill>
                  <a:srgbClr val="000000"/>
                </a:solidFill>
                <a:latin typeface="Times New Roman" panose="02020603050405020304" pitchFamily="18" charset="0"/>
              </a:rPr>
              <a:t>[6] A. Mulligan, ‘Why electrodes matter: ECG artifacts’, </a:t>
            </a:r>
            <a:r>
              <a:rPr lang="en-US" sz="1000" b="0" i="0" u="none" strike="noStrike" baseline="0" dirty="0" err="1">
                <a:solidFill>
                  <a:srgbClr val="000000"/>
                </a:solidFill>
                <a:latin typeface="Times New Roman" panose="02020603050405020304" pitchFamily="18" charset="0"/>
              </a:rPr>
              <a:t>PulseAI</a:t>
            </a:r>
            <a:r>
              <a:rPr lang="en-US" sz="1000" b="0" i="0" u="none" strike="noStrike" baseline="0" dirty="0">
                <a:solidFill>
                  <a:srgbClr val="000000"/>
                </a:solidFill>
                <a:latin typeface="Times New Roman" panose="02020603050405020304" pitchFamily="18" charset="0"/>
              </a:rPr>
              <a:t>, 18-Aug-2020. [Online]. Available: https://www.pulseai.io/blog/why-electrode-matter. [Accessed: 05-Sep-2023]. </a:t>
            </a:r>
            <a:endParaRPr lang="en-IN" sz="1000" dirty="0"/>
          </a:p>
        </p:txBody>
      </p:sp>
    </p:spTree>
    <p:extLst>
      <p:ext uri="{BB962C8B-B14F-4D97-AF65-F5344CB8AC3E}">
        <p14:creationId xmlns:p14="http://schemas.microsoft.com/office/powerpoint/2010/main" val="1734540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651F-2CA2-FCCC-F2AD-6380E975D714}"/>
              </a:ext>
            </a:extLst>
          </p:cNvPr>
          <p:cNvSpPr>
            <a:spLocks noGrp="1"/>
          </p:cNvSpPr>
          <p:nvPr>
            <p:ph type="title"/>
          </p:nvPr>
        </p:nvSpPr>
        <p:spPr/>
        <p:txBody>
          <a:bodyPr/>
          <a:lstStyle/>
          <a:p>
            <a:r>
              <a:rPr lang="en-IN" dirty="0">
                <a:solidFill>
                  <a:schemeClr val="accent1">
                    <a:lumMod val="75000"/>
                  </a:schemeClr>
                </a:solidFill>
                <a:latin typeface="Times New Roman" panose="02020603050405020304" pitchFamily="18" charset="0"/>
                <a:cs typeface="Times New Roman" panose="02020603050405020304" pitchFamily="18" charset="0"/>
              </a:rPr>
              <a:t>                  PRE-PROCESSING</a:t>
            </a:r>
            <a:br>
              <a:rPr lang="en-IN" dirty="0">
                <a:solidFill>
                  <a:schemeClr val="accent1">
                    <a:lumMod val="75000"/>
                  </a:schemeClr>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2B99B85-76C3-35E8-9D59-204C983AFEA1}"/>
              </a:ext>
            </a:extLst>
          </p:cNvPr>
          <p:cNvSpPr>
            <a:spLocks noGrp="1"/>
          </p:cNvSpPr>
          <p:nvPr>
            <p:ph sz="half" idx="1"/>
          </p:nvPr>
        </p:nvSpPr>
        <p:spPr/>
        <p:txBody>
          <a:bodyPr/>
          <a:lstStyle/>
          <a:p>
            <a:pPr marL="0" indent="0" algn="ctr">
              <a:buNone/>
            </a:pPr>
            <a:r>
              <a:rPr lang="en-IN" u="sng" dirty="0">
                <a:latin typeface="Times New Roman" panose="02020603050405020304" pitchFamily="18" charset="0"/>
                <a:cs typeface="Times New Roman" panose="02020603050405020304" pitchFamily="18" charset="0"/>
              </a:rPr>
              <a:t>NORMALIZATION</a:t>
            </a:r>
          </a:p>
          <a:p>
            <a:pPr marL="0" indent="0" algn="ctr">
              <a:buNone/>
            </a:pPr>
            <a:endParaRPr lang="en-IN" u="sng" dirty="0">
              <a:latin typeface="Times New Roman" panose="02020603050405020304" pitchFamily="18" charset="0"/>
              <a:cs typeface="Times New Roman" panose="02020603050405020304" pitchFamily="18" charset="0"/>
            </a:endParaRPr>
          </a:p>
          <a:p>
            <a:pPr algn="l" rtl="0" fontAlgn="base">
              <a:buFont typeface="Wingdings" panose="05000000000000000000" pitchFamily="2" charset="2"/>
              <a:buChar char="§"/>
            </a:pPr>
            <a:r>
              <a:rPr lang="en-US" sz="2000" b="0" i="0" u="none" strike="noStrike" dirty="0">
                <a:solidFill>
                  <a:srgbClr val="000000"/>
                </a:solidFill>
                <a:effectLst/>
                <a:latin typeface="Times New Roman" panose="02020603050405020304" pitchFamily="18" charset="0"/>
              </a:rPr>
              <a:t>Normalization is used to scale the amplitude of the ECG signal into a standard range</a:t>
            </a:r>
            <a:endParaRPr lang="en-US" sz="2000" b="0" i="0" dirty="0">
              <a:solidFill>
                <a:srgbClr val="000000"/>
              </a:solidFill>
              <a:effectLst/>
              <a:latin typeface="Arial" panose="020B0604020202020204" pitchFamily="34" charset="0"/>
            </a:endParaRPr>
          </a:p>
          <a:p>
            <a:pPr algn="just" rtl="0" fontAlgn="base">
              <a:buFont typeface="Wingdings" panose="05000000000000000000" pitchFamily="2" charset="2"/>
              <a:buChar char="§"/>
            </a:pPr>
            <a:r>
              <a:rPr lang="en-US" sz="2000" b="0" i="0" u="none" strike="noStrike" dirty="0">
                <a:solidFill>
                  <a:srgbClr val="000000"/>
                </a:solidFill>
                <a:effectLst/>
                <a:latin typeface="Times New Roman" panose="02020603050405020304" pitchFamily="18" charset="0"/>
              </a:rPr>
              <a:t>Normalized signals allow for more meaningful comparisons between multiple ECG recordings and more accurate classification of various cardiac diseases based on consistent feature magnitudes </a:t>
            </a:r>
            <a:endParaRPr lang="en-US" sz="2000" b="0" i="0" dirty="0">
              <a:solidFill>
                <a:srgbClr val="000000"/>
              </a:solidFill>
              <a:effectLst/>
              <a:latin typeface="Arial" panose="020B0604020202020204" pitchFamily="34" charset="0"/>
            </a:endParaRPr>
          </a:p>
          <a:p>
            <a:pPr algn="just" rtl="0" fontAlgn="base">
              <a:buFont typeface="Wingdings" panose="05000000000000000000" pitchFamily="2" charset="2"/>
              <a:buChar char="§"/>
            </a:pPr>
            <a:r>
              <a:rPr lang="en-US" sz="2000" b="0" i="0" u="none" strike="noStrike" dirty="0">
                <a:solidFill>
                  <a:srgbClr val="000000"/>
                </a:solidFill>
                <a:effectLst/>
                <a:latin typeface="Times New Roman" panose="02020603050405020304" pitchFamily="18" charset="0"/>
              </a:rPr>
              <a:t>Here signal values of ECG data are normalized to the range [-1,1] </a:t>
            </a:r>
            <a:endParaRPr lang="en-US" sz="2000" b="0" i="0" dirty="0">
              <a:solidFill>
                <a:srgbClr val="000000"/>
              </a:solidFill>
              <a:effectLst/>
              <a:latin typeface="Arial" panose="020B0604020202020204" pitchFamily="34" charset="0"/>
            </a:endParaRPr>
          </a:p>
          <a:p>
            <a:pPr>
              <a:buFont typeface="Wingdings" panose="05000000000000000000" pitchFamily="2" charset="2"/>
              <a:buChar char="§"/>
            </a:pPr>
            <a:endParaRPr lang="en-IN"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96B9ABA-D32F-D2E4-4060-1982C95FDD0A}"/>
              </a:ext>
            </a:extLst>
          </p:cNvPr>
          <p:cNvSpPr>
            <a:spLocks noGrp="1"/>
          </p:cNvSpPr>
          <p:nvPr>
            <p:ph sz="half" idx="2"/>
          </p:nvPr>
        </p:nvSpPr>
        <p:spPr>
          <a:xfrm>
            <a:off x="6172200" y="1825625"/>
            <a:ext cx="4932680" cy="4351338"/>
          </a:xfrm>
        </p:spPr>
        <p:txBody>
          <a:bodyPr/>
          <a:lstStyle/>
          <a:p>
            <a:pPr marL="0" indent="0" algn="ctr">
              <a:buNone/>
            </a:pPr>
            <a:r>
              <a:rPr lang="en-IN" u="sng" dirty="0">
                <a:latin typeface="Times New Roman" panose="02020603050405020304" pitchFamily="18" charset="0"/>
                <a:cs typeface="Times New Roman" panose="02020603050405020304" pitchFamily="18" charset="0"/>
              </a:rPr>
              <a:t>RESAMPLING</a:t>
            </a:r>
          </a:p>
          <a:p>
            <a:pPr marL="0" indent="0" algn="ctr">
              <a:buNone/>
            </a:pPr>
            <a:endParaRPr lang="en-IN" u="sng" dirty="0">
              <a:latin typeface="Times New Roman" panose="02020603050405020304" pitchFamily="18" charset="0"/>
              <a:cs typeface="Times New Roman" panose="02020603050405020304" pitchFamily="18" charset="0"/>
            </a:endParaRPr>
          </a:p>
          <a:p>
            <a:pPr algn="l" rtl="0" fontAlgn="base">
              <a:buFont typeface="Wingdings" panose="05000000000000000000" pitchFamily="2" charset="2"/>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Resampling technique make use of interpolation and decimation techniques to vary the number of data points </a:t>
            </a:r>
            <a:r>
              <a:rPr lang="en-IN" sz="2000" b="0" i="0" dirty="0">
                <a:solidFill>
                  <a:srgbClr val="000000"/>
                </a:solidFill>
                <a:effectLst/>
                <a:latin typeface="Times New Roman" panose="02020603050405020304" pitchFamily="18" charset="0"/>
                <a:cs typeface="Times New Roman" panose="02020603050405020304" pitchFamily="18" charset="0"/>
              </a:rPr>
              <a:t>​</a:t>
            </a:r>
          </a:p>
          <a:p>
            <a:pPr algn="l" rtl="0" fontAlgn="base">
              <a:buFont typeface="Wingdings" panose="05000000000000000000" pitchFamily="2" charset="2"/>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Number of datapoints in the majority of dataset is 9000. So, if the data is of length less than 9000, interpolation technique is employed and if greater than 9000, decimation method is used</a:t>
            </a:r>
            <a:endParaRPr lang="en-US" sz="2000" b="0" i="0" dirty="0">
              <a:solidFill>
                <a:srgbClr val="000000"/>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u="sng"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24F4C361-B049-D481-2545-ECCF3BE3755E}"/>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7B2A955-FD1B-0C20-F408-CA128F775403}"/>
              </a:ext>
            </a:extLst>
          </p:cNvPr>
          <p:cNvCxnSpPr/>
          <p:nvPr/>
        </p:nvCxnSpPr>
        <p:spPr>
          <a:xfrm>
            <a:off x="0" y="678688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E2B98EB1-AE30-7A38-F97C-313C5D437F9B}"/>
              </a:ext>
            </a:extLst>
          </p:cNvPr>
          <p:cNvSpPr>
            <a:spLocks noGrp="1"/>
          </p:cNvSpPr>
          <p:nvPr>
            <p:ph type="sldNum" sz="quarter" idx="12"/>
          </p:nvPr>
        </p:nvSpPr>
        <p:spPr/>
        <p:txBody>
          <a:bodyPr/>
          <a:lstStyle/>
          <a:p>
            <a:fld id="{6C5FC05A-C924-4EE5-A853-ADA77C45D7CF}" type="slidenum">
              <a:rPr lang="en-IN" sz="2000" smtClean="0">
                <a:solidFill>
                  <a:schemeClr val="tx1"/>
                </a:solidFill>
              </a:rPr>
              <a:t>8</a:t>
            </a:fld>
            <a:endParaRPr lang="en-IN" sz="2000" dirty="0">
              <a:solidFill>
                <a:schemeClr val="tx1"/>
              </a:solidFill>
            </a:endParaRPr>
          </a:p>
        </p:txBody>
      </p:sp>
    </p:spTree>
    <p:extLst>
      <p:ext uri="{BB962C8B-B14F-4D97-AF65-F5344CB8AC3E}">
        <p14:creationId xmlns:p14="http://schemas.microsoft.com/office/powerpoint/2010/main" val="3900976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BA78-0C06-164C-8106-4B5ED3A019AC}"/>
              </a:ext>
            </a:extLst>
          </p:cNvPr>
          <p:cNvSpPr>
            <a:spLocks noGrp="1"/>
          </p:cNvSpPr>
          <p:nvPr>
            <p:ph type="title"/>
          </p:nvPr>
        </p:nvSpPr>
        <p:spPr>
          <a:xfrm>
            <a:off x="838200" y="263525"/>
            <a:ext cx="10515600" cy="1325563"/>
          </a:xfrm>
        </p:spPr>
        <p:txBody>
          <a:bodyPr/>
          <a:lstStyle/>
          <a:p>
            <a:pPr algn="ctr"/>
            <a:r>
              <a:rPr lang="en-IN" sz="4400" dirty="0">
                <a:solidFill>
                  <a:schemeClr val="accent1">
                    <a:lumMod val="75000"/>
                  </a:schemeClr>
                </a:solidFill>
                <a:latin typeface="Times New Roman" panose="02020603050405020304" pitchFamily="18" charset="0"/>
                <a:cs typeface="Times New Roman" panose="02020603050405020304" pitchFamily="18" charset="0"/>
              </a:rPr>
              <a:t>DATA  AUGMENTATION</a:t>
            </a:r>
            <a:endParaRPr lang="en-IN" dirty="0"/>
          </a:p>
        </p:txBody>
      </p:sp>
      <p:sp>
        <p:nvSpPr>
          <p:cNvPr id="3" name="Content Placeholder 2">
            <a:extLst>
              <a:ext uri="{FF2B5EF4-FFF2-40B4-BE49-F238E27FC236}">
                <a16:creationId xmlns:a16="http://schemas.microsoft.com/office/drawing/2014/main" id="{B44CAF0E-EFBA-DA8F-0694-DEB0706E045D}"/>
              </a:ext>
            </a:extLst>
          </p:cNvPr>
          <p:cNvSpPr>
            <a:spLocks noGrp="1"/>
          </p:cNvSpPr>
          <p:nvPr>
            <p:ph sz="half" idx="1"/>
          </p:nvPr>
        </p:nvSpPr>
        <p:spPr>
          <a:xfrm>
            <a:off x="746760" y="2506662"/>
            <a:ext cx="5511800" cy="4351338"/>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highly imbalanced training data would affect the model performance</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Data augmentation to deal with class imbalance problem</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Up sampling and down sampling methods </a:t>
            </a:r>
          </a:p>
          <a:p>
            <a:pPr marL="0" indent="0">
              <a:buNone/>
            </a:pPr>
            <a:endParaRPr lang="en-IN" dirty="0"/>
          </a:p>
        </p:txBody>
      </p:sp>
      <p:pic>
        <p:nvPicPr>
          <p:cNvPr id="6" name="Content Placeholder 5">
            <a:extLst>
              <a:ext uri="{FF2B5EF4-FFF2-40B4-BE49-F238E27FC236}">
                <a16:creationId xmlns:a16="http://schemas.microsoft.com/office/drawing/2014/main" id="{70EBE761-D16F-A8B2-C21C-8A0DFD614210}"/>
              </a:ext>
            </a:extLst>
          </p:cNvPr>
          <p:cNvPicPr>
            <a:picLocks noGrp="1" noChangeAspect="1"/>
          </p:cNvPicPr>
          <p:nvPr>
            <p:ph sz="half" idx="2"/>
          </p:nvPr>
        </p:nvPicPr>
        <p:blipFill>
          <a:blip r:embed="rId2"/>
          <a:stretch>
            <a:fillRect/>
          </a:stretch>
        </p:blipFill>
        <p:spPr>
          <a:xfrm>
            <a:off x="6623105" y="2237398"/>
            <a:ext cx="4584589" cy="2755631"/>
          </a:xfrm>
          <a:prstGeom prst="rect">
            <a:avLst/>
          </a:prstGeom>
        </p:spPr>
      </p:pic>
      <p:sp>
        <p:nvSpPr>
          <p:cNvPr id="5" name="Slide Number Placeholder 4">
            <a:extLst>
              <a:ext uri="{FF2B5EF4-FFF2-40B4-BE49-F238E27FC236}">
                <a16:creationId xmlns:a16="http://schemas.microsoft.com/office/drawing/2014/main" id="{99FC4DE7-0797-47ED-F4A9-265D5C3A6837}"/>
              </a:ext>
            </a:extLst>
          </p:cNvPr>
          <p:cNvSpPr>
            <a:spLocks noGrp="1"/>
          </p:cNvSpPr>
          <p:nvPr>
            <p:ph type="sldNum" sz="quarter" idx="12"/>
          </p:nvPr>
        </p:nvSpPr>
        <p:spPr/>
        <p:txBody>
          <a:bodyPr/>
          <a:lstStyle/>
          <a:p>
            <a:fld id="{6C5FC05A-C924-4EE5-A853-ADA77C45D7CF}" type="slidenum">
              <a:rPr lang="en-IN" smtClean="0"/>
              <a:t>9</a:t>
            </a:fld>
            <a:endParaRPr lang="en-IN"/>
          </a:p>
        </p:txBody>
      </p:sp>
    </p:spTree>
    <p:extLst>
      <p:ext uri="{BB962C8B-B14F-4D97-AF65-F5344CB8AC3E}">
        <p14:creationId xmlns:p14="http://schemas.microsoft.com/office/powerpoint/2010/main" val="118453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D5331-F302-AE04-F8A5-7D1B2FFF6F96}"/>
              </a:ext>
            </a:extLst>
          </p:cNvPr>
          <p:cNvSpPr>
            <a:spLocks noGrp="1"/>
          </p:cNvSpPr>
          <p:nvPr>
            <p:ph type="title"/>
          </p:nvPr>
        </p:nvSpPr>
        <p:spPr>
          <a:xfrm>
            <a:off x="838200" y="314325"/>
            <a:ext cx="10515600" cy="1325563"/>
          </a:xfrm>
        </p:spPr>
        <p:txBody>
          <a:bodyPr>
            <a:normAutofit/>
          </a:bodyPr>
          <a:lstStyle/>
          <a:p>
            <a:pPr algn="ctr"/>
            <a:r>
              <a:rPr lang="en-IN" sz="4000" dirty="0">
                <a:solidFill>
                  <a:schemeClr val="accent1">
                    <a:lumMod val="75000"/>
                  </a:schemeClr>
                </a:solidFill>
                <a:latin typeface="Times New Roman" panose="02020603050405020304" pitchFamily="18" charset="0"/>
                <a:cs typeface="Times New Roman" panose="02020603050405020304" pitchFamily="18" charset="0"/>
              </a:rPr>
              <a:t>SPECTROGRAM CONVERSION</a:t>
            </a:r>
          </a:p>
        </p:txBody>
      </p:sp>
      <p:sp>
        <p:nvSpPr>
          <p:cNvPr id="3" name="Content Placeholder 2">
            <a:extLst>
              <a:ext uri="{FF2B5EF4-FFF2-40B4-BE49-F238E27FC236}">
                <a16:creationId xmlns:a16="http://schemas.microsoft.com/office/drawing/2014/main" id="{DF343C18-DBA0-3A3A-F71C-53B69C281CB5}"/>
              </a:ext>
            </a:extLst>
          </p:cNvPr>
          <p:cNvSpPr>
            <a:spLocks noGrp="1"/>
          </p:cNvSpPr>
          <p:nvPr>
            <p:ph sz="half" idx="1"/>
          </p:nvPr>
        </p:nvSpPr>
        <p:spPr/>
        <p:txBody>
          <a:bodyPr>
            <a:normAutofit/>
          </a:bodyPr>
          <a:lstStyle/>
          <a:p>
            <a:pPr>
              <a:buFont typeface="Wingdings" panose="05000000000000000000" pitchFamily="2" charset="2"/>
              <a:buChar char="§"/>
            </a:pPr>
            <a:r>
              <a:rPr lang="en-US" sz="2400" b="0" i="0" dirty="0">
                <a:solidFill>
                  <a:srgbClr val="000000"/>
                </a:solidFill>
                <a:effectLst/>
                <a:latin typeface="Times New Roman" panose="02020603050405020304" pitchFamily="18" charset="0"/>
              </a:rPr>
              <a:t>Spectrogram represents the visual representation of frequencies of a signal </a:t>
            </a:r>
            <a:r>
              <a:rPr lang="en-US" sz="1000" b="0" i="0" dirty="0">
                <a:solidFill>
                  <a:srgbClr val="000000"/>
                </a:solidFill>
                <a:effectLst/>
                <a:latin typeface="Times New Roman" panose="02020603050405020304" pitchFamily="18" charset="0"/>
              </a:rPr>
              <a:t>[7]</a:t>
            </a:r>
          </a:p>
          <a:p>
            <a:pPr>
              <a:buFont typeface="Wingdings" panose="05000000000000000000" pitchFamily="2" charset="2"/>
              <a:buChar char="§"/>
            </a:pPr>
            <a:r>
              <a:rPr lang="en-IN" sz="2400" b="0" i="0" u="none" strike="noStrike" dirty="0">
                <a:solidFill>
                  <a:srgbClr val="000000"/>
                </a:solidFill>
                <a:effectLst/>
                <a:latin typeface="Times New Roman" panose="02020603050405020304" pitchFamily="18" charset="0"/>
              </a:rPr>
              <a:t>The main steps involved in spectrogram computation are windowing, Fast Fourier Transform, Power calculation and finally mapping to intensity</a:t>
            </a:r>
          </a:p>
          <a:p>
            <a:pPr>
              <a:buFont typeface="Wingdings" panose="05000000000000000000" pitchFamily="2" charset="2"/>
              <a:buChar char="§"/>
            </a:pPr>
            <a:r>
              <a:rPr lang="en-US" sz="2400" b="0" i="0" dirty="0">
                <a:solidFill>
                  <a:srgbClr val="000000"/>
                </a:solidFill>
                <a:effectLst/>
                <a:latin typeface="Times New Roman" panose="02020603050405020304" pitchFamily="18" charset="0"/>
              </a:rPr>
              <a:t>Window size:256 and Overlap :128</a:t>
            </a:r>
          </a:p>
          <a:p>
            <a:pPr>
              <a:buFont typeface="Wingdings" panose="05000000000000000000" pitchFamily="2" charset="2"/>
              <a:buChar char="§"/>
            </a:pPr>
            <a:r>
              <a:rPr lang="en-US" sz="2400" dirty="0">
                <a:solidFill>
                  <a:srgbClr val="000000"/>
                </a:solidFill>
                <a:latin typeface="Times New Roman" panose="02020603050405020304" pitchFamily="18" charset="0"/>
              </a:rPr>
              <a:t>129×69 spectrogram image</a:t>
            </a:r>
            <a:endParaRPr lang="en-IN" sz="2400" dirty="0"/>
          </a:p>
        </p:txBody>
      </p:sp>
      <p:pic>
        <p:nvPicPr>
          <p:cNvPr id="6" name="Content Placeholder 5">
            <a:extLst>
              <a:ext uri="{FF2B5EF4-FFF2-40B4-BE49-F238E27FC236}">
                <a16:creationId xmlns:a16="http://schemas.microsoft.com/office/drawing/2014/main" id="{A516FBFD-D270-F3EF-7BE1-9B89AB6AC9DC}"/>
              </a:ext>
            </a:extLst>
          </p:cNvPr>
          <p:cNvPicPr>
            <a:picLocks noGrp="1" noChangeAspect="1"/>
          </p:cNvPicPr>
          <p:nvPr>
            <p:ph sz="half" idx="2"/>
          </p:nvPr>
        </p:nvPicPr>
        <p:blipFill>
          <a:blip r:embed="rId2"/>
          <a:stretch>
            <a:fillRect/>
          </a:stretch>
        </p:blipFill>
        <p:spPr>
          <a:xfrm>
            <a:off x="6355466" y="1825625"/>
            <a:ext cx="4444614" cy="3457575"/>
          </a:xfrm>
        </p:spPr>
      </p:pic>
      <p:cxnSp>
        <p:nvCxnSpPr>
          <p:cNvPr id="11" name="Straight Connector 10">
            <a:extLst>
              <a:ext uri="{FF2B5EF4-FFF2-40B4-BE49-F238E27FC236}">
                <a16:creationId xmlns:a16="http://schemas.microsoft.com/office/drawing/2014/main" id="{9FA7CEC5-D09A-E550-8BC2-E35D54AE57D3}"/>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8AA420-5AE9-948D-14E9-704596AAC53F}"/>
              </a:ext>
            </a:extLst>
          </p:cNvPr>
          <p:cNvCxnSpPr/>
          <p:nvPr/>
        </p:nvCxnSpPr>
        <p:spPr>
          <a:xfrm>
            <a:off x="0" y="678688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96C90658-5E41-B4DE-C3F7-AFCC27F24A09}"/>
              </a:ext>
            </a:extLst>
          </p:cNvPr>
          <p:cNvSpPr>
            <a:spLocks noGrp="1"/>
          </p:cNvSpPr>
          <p:nvPr>
            <p:ph type="sldNum" sz="quarter" idx="12"/>
          </p:nvPr>
        </p:nvSpPr>
        <p:spPr/>
        <p:txBody>
          <a:bodyPr/>
          <a:lstStyle/>
          <a:p>
            <a:fld id="{6C5FC05A-C924-4EE5-A853-ADA77C45D7CF}" type="slidenum">
              <a:rPr lang="en-IN" sz="2000" smtClean="0">
                <a:solidFill>
                  <a:schemeClr val="tx1"/>
                </a:solidFill>
              </a:rPr>
              <a:t>10</a:t>
            </a:fld>
            <a:endParaRPr lang="en-IN" sz="2000" dirty="0">
              <a:solidFill>
                <a:schemeClr val="tx1"/>
              </a:solidFill>
            </a:endParaRPr>
          </a:p>
        </p:txBody>
      </p:sp>
      <p:sp>
        <p:nvSpPr>
          <p:cNvPr id="9" name="TextBox 8">
            <a:extLst>
              <a:ext uri="{FF2B5EF4-FFF2-40B4-BE49-F238E27FC236}">
                <a16:creationId xmlns:a16="http://schemas.microsoft.com/office/drawing/2014/main" id="{432601FD-AC95-59E4-CA19-E9F371ABC706}"/>
              </a:ext>
            </a:extLst>
          </p:cNvPr>
          <p:cNvSpPr txBox="1"/>
          <p:nvPr/>
        </p:nvSpPr>
        <p:spPr>
          <a:xfrm>
            <a:off x="838200" y="6035040"/>
            <a:ext cx="8082280" cy="369332"/>
          </a:xfrm>
          <a:prstGeom prst="rect">
            <a:avLst/>
          </a:prstGeom>
          <a:noFill/>
        </p:spPr>
        <p:txBody>
          <a:bodyPr wrap="square" rtlCol="0">
            <a:spAutoFit/>
          </a:bodyPr>
          <a:lstStyle/>
          <a:p>
            <a:r>
              <a:rPr lang="en-US" sz="900" b="0" i="0" dirty="0">
                <a:solidFill>
                  <a:srgbClr val="37393C"/>
                </a:solidFill>
                <a:effectLst/>
                <a:latin typeface="Times New Roman" panose="02020603050405020304" pitchFamily="18" charset="0"/>
                <a:cs typeface="Times New Roman" panose="02020603050405020304" pitchFamily="18" charset="0"/>
              </a:rPr>
              <a:t>[7] Wikipedia contributors, ‘Spectrogram’, </a:t>
            </a:r>
            <a:r>
              <a:rPr lang="en-US" sz="900" b="0" i="1" dirty="0">
                <a:solidFill>
                  <a:srgbClr val="37393C"/>
                </a:solidFill>
                <a:effectLst/>
                <a:latin typeface="Times New Roman" panose="02020603050405020304" pitchFamily="18" charset="0"/>
                <a:cs typeface="Times New Roman" panose="02020603050405020304" pitchFamily="18" charset="0"/>
              </a:rPr>
              <a:t>Wikipedia, The Free Encyclopedia</a:t>
            </a:r>
            <a:r>
              <a:rPr lang="en-US" sz="900" b="0" i="0" dirty="0">
                <a:solidFill>
                  <a:srgbClr val="37393C"/>
                </a:solidFill>
                <a:effectLst/>
                <a:latin typeface="Times New Roman" panose="02020603050405020304" pitchFamily="18" charset="0"/>
                <a:cs typeface="Times New Roman" panose="02020603050405020304" pitchFamily="18" charset="0"/>
              </a:rPr>
              <a:t>, 21-Aug-2023. [Online]. Available: https://en.wikipedia.org/w/index.php?title=Spectrogram&amp;oldid=1171568868.</a:t>
            </a:r>
            <a:endParaRPr lang="en-IN"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73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5DC15-2268-4C95-E52F-1C58DE12D6A0}"/>
              </a:ext>
            </a:extLst>
          </p:cNvPr>
          <p:cNvSpPr>
            <a:spLocks noGrp="1"/>
          </p:cNvSpPr>
          <p:nvPr>
            <p:ph type="title"/>
          </p:nvPr>
        </p:nvSpPr>
        <p:spPr/>
        <p:txBody>
          <a:bodyPr>
            <a:normAutofit/>
          </a:bodyPr>
          <a:lstStyle/>
          <a:p>
            <a:pPr algn="ctr"/>
            <a:r>
              <a:rPr lang="en-IN" sz="4000" dirty="0">
                <a:solidFill>
                  <a:schemeClr val="accent1">
                    <a:lumMod val="75000"/>
                  </a:schemeClr>
                </a:solidFill>
                <a:latin typeface="Times New Roman" panose="02020603050405020304" pitchFamily="18" charset="0"/>
                <a:cs typeface="Times New Roman" panose="02020603050405020304" pitchFamily="18" charset="0"/>
              </a:rPr>
              <a:t>CLASSIFICATION USING CNN</a:t>
            </a:r>
          </a:p>
        </p:txBody>
      </p:sp>
      <p:sp>
        <p:nvSpPr>
          <p:cNvPr id="3" name="Content Placeholder 2">
            <a:extLst>
              <a:ext uri="{FF2B5EF4-FFF2-40B4-BE49-F238E27FC236}">
                <a16:creationId xmlns:a16="http://schemas.microsoft.com/office/drawing/2014/main" id="{5AA9E956-BBC3-C484-6015-805FF010BD1B}"/>
              </a:ext>
            </a:extLst>
          </p:cNvPr>
          <p:cNvSpPr>
            <a:spLocks noGrp="1"/>
          </p:cNvSpPr>
          <p:nvPr>
            <p:ph sz="half" idx="1"/>
          </p:nvPr>
        </p:nvSpPr>
        <p:spPr>
          <a:xfrm>
            <a:off x="736600" y="1825625"/>
            <a:ext cx="5181600" cy="4351338"/>
          </a:xfrm>
        </p:spPr>
        <p:txBody>
          <a:bodyPr/>
          <a:lstStyle/>
          <a:p>
            <a:pPr>
              <a:buFont typeface="Wingdings" panose="05000000000000000000" pitchFamily="2" charset="2"/>
              <a:buChar char="§"/>
            </a:pPr>
            <a:r>
              <a:rPr lang="en-IN" sz="1800" b="0" i="0" u="none" strike="noStrike" dirty="0">
                <a:solidFill>
                  <a:srgbClr val="000000"/>
                </a:solidFill>
                <a:effectLst/>
                <a:latin typeface="Times New Roman" panose="02020603050405020304" pitchFamily="18" charset="0"/>
              </a:rPr>
              <a:t>Classification of ECG signals into Normal Rythm, Atrial Fibrillation, </a:t>
            </a:r>
            <a:r>
              <a:rPr lang="en-IN" sz="1800" dirty="0">
                <a:solidFill>
                  <a:srgbClr val="000000"/>
                </a:solidFill>
                <a:latin typeface="Times New Roman" panose="02020603050405020304" pitchFamily="18" charset="0"/>
              </a:rPr>
              <a:t>Alternative</a:t>
            </a:r>
            <a:r>
              <a:rPr lang="en-IN" sz="1800" b="0" i="0" u="none" strike="noStrike" dirty="0">
                <a:solidFill>
                  <a:srgbClr val="000000"/>
                </a:solidFill>
                <a:effectLst/>
                <a:latin typeface="Times New Roman" panose="02020603050405020304" pitchFamily="18" charset="0"/>
              </a:rPr>
              <a:t> Rythms and noise is performed using CNN (Convolutional Neural Network)</a:t>
            </a:r>
          </a:p>
          <a:p>
            <a:pPr>
              <a:buFont typeface="Wingdings" panose="05000000000000000000" pitchFamily="2" charset="2"/>
              <a:buChar char="§"/>
            </a:pPr>
            <a:r>
              <a:rPr lang="en-IN" sz="1800" dirty="0">
                <a:solidFill>
                  <a:srgbClr val="000000"/>
                </a:solidFill>
                <a:latin typeface="Times New Roman" panose="02020603050405020304" pitchFamily="18" charset="0"/>
              </a:rPr>
              <a:t>CNN: Deep learning model specifically designed for processing grid like data such as images </a:t>
            </a:r>
            <a:r>
              <a:rPr lang="en-IN" sz="1000" dirty="0">
                <a:solidFill>
                  <a:srgbClr val="000000"/>
                </a:solidFill>
                <a:latin typeface="Times New Roman" panose="02020603050405020304" pitchFamily="18" charset="0"/>
              </a:rPr>
              <a:t>[9]</a:t>
            </a:r>
          </a:p>
          <a:p>
            <a:pPr>
              <a:buFont typeface="Wingdings" panose="05000000000000000000" pitchFamily="2" charset="2"/>
              <a:buChar char="§"/>
            </a:pPr>
            <a:r>
              <a:rPr lang="en-IN" sz="1800" dirty="0">
                <a:solidFill>
                  <a:srgbClr val="000000"/>
                </a:solidFill>
                <a:latin typeface="Times New Roman" panose="02020603050405020304" pitchFamily="18" charset="0"/>
              </a:rPr>
              <a:t>E</a:t>
            </a:r>
            <a:r>
              <a:rPr lang="en-IN" sz="1800" b="0" i="0" u="none" strike="noStrike" dirty="0">
                <a:solidFill>
                  <a:srgbClr val="000000"/>
                </a:solidFill>
                <a:effectLst/>
                <a:latin typeface="Times New Roman" panose="02020603050405020304" pitchFamily="18" charset="0"/>
              </a:rPr>
              <a:t>ffective in extracting relevant features from ECG signals and classifying them into normal sinus rhythm, atrial fibrillation, </a:t>
            </a:r>
            <a:r>
              <a:rPr lang="en-IN" sz="1800" dirty="0">
                <a:solidFill>
                  <a:srgbClr val="000000"/>
                </a:solidFill>
                <a:latin typeface="Times New Roman" panose="02020603050405020304" pitchFamily="18" charset="0"/>
              </a:rPr>
              <a:t>O</a:t>
            </a:r>
            <a:r>
              <a:rPr lang="en-IN" sz="1800" b="0" i="0" u="none" strike="noStrike" dirty="0">
                <a:solidFill>
                  <a:srgbClr val="000000"/>
                </a:solidFill>
                <a:effectLst/>
                <a:latin typeface="Times New Roman" panose="02020603050405020304" pitchFamily="18" charset="0"/>
              </a:rPr>
              <a:t>ther arrhythmias, and noisy signal</a:t>
            </a:r>
          </a:p>
          <a:p>
            <a:pPr>
              <a:buFont typeface="Wingdings" panose="05000000000000000000" pitchFamily="2" charset="2"/>
              <a:buChar char="§"/>
            </a:pPr>
            <a:r>
              <a:rPr lang="en-IN" sz="1800" dirty="0">
                <a:solidFill>
                  <a:srgbClr val="000000"/>
                </a:solidFill>
                <a:latin typeface="Times New Roman" panose="02020603050405020304" pitchFamily="18" charset="0"/>
              </a:rPr>
              <a:t>CNN is comprised of several layers performing specific functions as feature extraction, reduction and classification</a:t>
            </a:r>
            <a:endParaRPr lang="en-IN" dirty="0"/>
          </a:p>
        </p:txBody>
      </p:sp>
      <p:cxnSp>
        <p:nvCxnSpPr>
          <p:cNvPr id="5" name="Straight Connector 4">
            <a:extLst>
              <a:ext uri="{FF2B5EF4-FFF2-40B4-BE49-F238E27FC236}">
                <a16:creationId xmlns:a16="http://schemas.microsoft.com/office/drawing/2014/main" id="{C9D88F4B-D4B1-57E0-9A06-FC53D60BF6AE}"/>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6CFC26A-0404-5D58-C746-672B052CAA94}"/>
              </a:ext>
            </a:extLst>
          </p:cNvPr>
          <p:cNvCxnSpPr/>
          <p:nvPr/>
        </p:nvCxnSpPr>
        <p:spPr>
          <a:xfrm>
            <a:off x="-1" y="6786880"/>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7E4295B-6E0E-333E-F88E-B4F1E23F80EE}"/>
              </a:ext>
            </a:extLst>
          </p:cNvPr>
          <p:cNvSpPr>
            <a:spLocks noGrp="1"/>
          </p:cNvSpPr>
          <p:nvPr>
            <p:ph type="sldNum" sz="quarter" idx="12"/>
          </p:nvPr>
        </p:nvSpPr>
        <p:spPr/>
        <p:txBody>
          <a:bodyPr/>
          <a:lstStyle/>
          <a:p>
            <a:fld id="{6C5FC05A-C924-4EE5-A853-ADA77C45D7CF}" type="slidenum">
              <a:rPr lang="en-IN" sz="2000" smtClean="0">
                <a:solidFill>
                  <a:schemeClr val="tx1"/>
                </a:solidFill>
              </a:rPr>
              <a:t>11</a:t>
            </a:fld>
            <a:endParaRPr lang="en-IN" sz="2000" dirty="0">
              <a:solidFill>
                <a:schemeClr val="tx1"/>
              </a:solidFill>
            </a:endParaRPr>
          </a:p>
        </p:txBody>
      </p:sp>
      <p:pic>
        <p:nvPicPr>
          <p:cNvPr id="10" name="Content Placeholder 9">
            <a:extLst>
              <a:ext uri="{FF2B5EF4-FFF2-40B4-BE49-F238E27FC236}">
                <a16:creationId xmlns:a16="http://schemas.microsoft.com/office/drawing/2014/main" id="{A75C9B2E-C06E-59E4-47E6-B9F96BD0ADD7}"/>
              </a:ext>
            </a:extLst>
          </p:cNvPr>
          <p:cNvPicPr>
            <a:picLocks noGrp="1" noChangeAspect="1"/>
          </p:cNvPicPr>
          <p:nvPr>
            <p:ph sz="half" idx="2"/>
          </p:nvPr>
        </p:nvPicPr>
        <p:blipFill>
          <a:blip r:embed="rId2"/>
          <a:stretch>
            <a:fillRect/>
          </a:stretch>
        </p:blipFill>
        <p:spPr>
          <a:xfrm>
            <a:off x="6172200" y="3204125"/>
            <a:ext cx="5181600" cy="1594338"/>
          </a:xfrm>
        </p:spPr>
      </p:pic>
      <p:sp>
        <p:nvSpPr>
          <p:cNvPr id="11" name="TextBox 10">
            <a:extLst>
              <a:ext uri="{FF2B5EF4-FFF2-40B4-BE49-F238E27FC236}">
                <a16:creationId xmlns:a16="http://schemas.microsoft.com/office/drawing/2014/main" id="{2E7C5968-D5BE-7314-67B8-3CE5B6522EA1}"/>
              </a:ext>
            </a:extLst>
          </p:cNvPr>
          <p:cNvSpPr txBox="1"/>
          <p:nvPr/>
        </p:nvSpPr>
        <p:spPr>
          <a:xfrm>
            <a:off x="838200" y="6138982"/>
            <a:ext cx="9758680" cy="369332"/>
          </a:xfrm>
          <a:prstGeom prst="rect">
            <a:avLst/>
          </a:prstGeom>
          <a:noFill/>
        </p:spPr>
        <p:txBody>
          <a:bodyPr wrap="square" rtlCol="0">
            <a:spAutoFit/>
          </a:bodyPr>
          <a:lstStyle/>
          <a:p>
            <a:r>
              <a:rPr lang="en-IN" sz="900" b="0" i="0" dirty="0">
                <a:solidFill>
                  <a:srgbClr val="37393C"/>
                </a:solidFill>
                <a:effectLst/>
                <a:latin typeface="Arial" panose="020B0604020202020204" pitchFamily="34" charset="0"/>
              </a:rPr>
              <a:t>[9] Wikipedia contributors, ‘Convolutional neural network’, </a:t>
            </a:r>
            <a:r>
              <a:rPr lang="en-IN" sz="900" b="0" i="1" dirty="0">
                <a:solidFill>
                  <a:srgbClr val="37393C"/>
                </a:solidFill>
                <a:effectLst/>
                <a:latin typeface="Arial" panose="020B0604020202020204" pitchFamily="34" charset="0"/>
              </a:rPr>
              <a:t>Wikipedia, The Free </a:t>
            </a:r>
            <a:r>
              <a:rPr lang="en-IN" sz="900" b="0" i="1" dirty="0" err="1">
                <a:solidFill>
                  <a:srgbClr val="37393C"/>
                </a:solidFill>
                <a:effectLst/>
                <a:latin typeface="Arial" panose="020B0604020202020204" pitchFamily="34" charset="0"/>
              </a:rPr>
              <a:t>Encyclopedia</a:t>
            </a:r>
            <a:r>
              <a:rPr lang="en-IN" sz="900" b="0" i="0" dirty="0">
                <a:solidFill>
                  <a:srgbClr val="37393C"/>
                </a:solidFill>
                <a:effectLst/>
                <a:latin typeface="Arial" panose="020B0604020202020204" pitchFamily="34" charset="0"/>
              </a:rPr>
              <a:t>, 03-Sep-2023. [Online]. Available: https://en.wikipedia.org/w/index.php?title=Convolutional_neural_network&amp;oldid=1173687463.</a:t>
            </a:r>
            <a:endParaRPr lang="en-IN" sz="900" dirty="0"/>
          </a:p>
        </p:txBody>
      </p:sp>
    </p:spTree>
    <p:extLst>
      <p:ext uri="{BB962C8B-B14F-4D97-AF65-F5344CB8AC3E}">
        <p14:creationId xmlns:p14="http://schemas.microsoft.com/office/powerpoint/2010/main" val="1972724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4AFE-AB01-7D42-9723-8F427F4CEEDA}"/>
              </a:ext>
            </a:extLst>
          </p:cNvPr>
          <p:cNvSpPr>
            <a:spLocks noGrp="1"/>
          </p:cNvSpPr>
          <p:nvPr>
            <p:ph type="title"/>
          </p:nvPr>
        </p:nvSpPr>
        <p:spPr/>
        <p:txBody>
          <a:bodyPr>
            <a:norm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                  CNN ARCHITECTURE</a:t>
            </a:r>
          </a:p>
        </p:txBody>
      </p:sp>
      <p:sp>
        <p:nvSpPr>
          <p:cNvPr id="3" name="Content Placeholder 2">
            <a:extLst>
              <a:ext uri="{FF2B5EF4-FFF2-40B4-BE49-F238E27FC236}">
                <a16:creationId xmlns:a16="http://schemas.microsoft.com/office/drawing/2014/main" id="{16A92198-1838-E6B3-CD1C-3D3BC4A47974}"/>
              </a:ext>
            </a:extLst>
          </p:cNvPr>
          <p:cNvSpPr>
            <a:spLocks noGrp="1"/>
          </p:cNvSpPr>
          <p:nvPr>
            <p:ph sz="half" idx="1"/>
          </p:nvPr>
        </p:nvSpPr>
        <p:spPr/>
        <p:txBody>
          <a:bodyPr>
            <a:normAutofit/>
          </a:bodyPr>
          <a:lstStyle/>
          <a:p>
            <a:pPr marL="0" indent="0">
              <a:buNone/>
            </a:pPr>
            <a:r>
              <a:rPr lang="en-IN" sz="3200" u="sng" dirty="0">
                <a:latin typeface="Times New Roman" panose="02020603050405020304" pitchFamily="18" charset="0"/>
                <a:cs typeface="Times New Roman" panose="02020603050405020304" pitchFamily="18" charset="0"/>
              </a:rPr>
              <a:t>Convolutional layer </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Performs convolution operation by sliding kernels over the input data </a:t>
            </a:r>
            <a:r>
              <a:rPr lang="en-IN" sz="1000" dirty="0">
                <a:latin typeface="Times New Roman" panose="02020603050405020304" pitchFamily="18" charset="0"/>
                <a:cs typeface="Times New Roman" panose="02020603050405020304" pitchFamily="18" charset="0"/>
              </a:rPr>
              <a:t>[10]</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Captures local patterns and features from the data</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3 layers each with 32 filters of size 3×3</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Content Placeholder 4">
            <a:extLst>
              <a:ext uri="{FF2B5EF4-FFF2-40B4-BE49-F238E27FC236}">
                <a16:creationId xmlns:a16="http://schemas.microsoft.com/office/drawing/2014/main" id="{A53B05EF-CA54-7622-E7C9-36FF047D9F5E}"/>
              </a:ext>
            </a:extLst>
          </p:cNvPr>
          <p:cNvSpPr>
            <a:spLocks noGrp="1"/>
          </p:cNvSpPr>
          <p:nvPr>
            <p:ph sz="half" idx="2"/>
          </p:nvPr>
        </p:nvSpPr>
        <p:spPr>
          <a:xfrm>
            <a:off x="6172200" y="1825624"/>
            <a:ext cx="5643880" cy="4465319"/>
          </a:xfrm>
        </p:spPr>
        <p:txBody>
          <a:bodyPr>
            <a:normAutofit/>
          </a:bodyPr>
          <a:lstStyle/>
          <a:p>
            <a:pPr marL="0" indent="0">
              <a:buNone/>
            </a:pPr>
            <a:r>
              <a:rPr lang="en-IN" sz="3200" u="sng" dirty="0">
                <a:latin typeface="Times New Roman" panose="02020603050405020304" pitchFamily="18" charset="0"/>
                <a:cs typeface="Times New Roman" panose="02020603050405020304" pitchFamily="18" charset="0"/>
              </a:rPr>
              <a:t>Pooling layer</a:t>
            </a:r>
          </a:p>
          <a:p>
            <a:pPr>
              <a:buFont typeface="Wingdings" panose="05000000000000000000" pitchFamily="2" charset="2"/>
              <a:buChar char="§"/>
            </a:pPr>
            <a:r>
              <a:rPr lang="en-IN" sz="2000" b="0" i="0" dirty="0">
                <a:solidFill>
                  <a:srgbClr val="000000"/>
                </a:solidFill>
                <a:effectLst/>
                <a:latin typeface="Times New Roman" panose="02020603050405020304" pitchFamily="18" charset="0"/>
              </a:rPr>
              <a:t>Down sample the spatial dimension of the data retaining the relevant features </a:t>
            </a:r>
            <a:r>
              <a:rPr lang="en-IN" sz="1000" b="0" i="0" dirty="0">
                <a:solidFill>
                  <a:srgbClr val="000000"/>
                </a:solidFill>
                <a:effectLst/>
                <a:latin typeface="Times New Roman" panose="02020603050405020304" pitchFamily="18" charset="0"/>
              </a:rPr>
              <a:t>[10]</a:t>
            </a:r>
          </a:p>
          <a:p>
            <a:pPr>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Two kinds of pooling : max pooling and average pooling</a:t>
            </a:r>
          </a:p>
          <a:p>
            <a:pPr>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3 layers of max pooling </a:t>
            </a:r>
          </a:p>
          <a:p>
            <a:pPr marL="0" indent="0">
              <a:buNone/>
            </a:pPr>
            <a:endParaRPr lang="en-IN" sz="32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86F45158-7F0B-BA71-6BEC-ADEECF60DA02}"/>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5D44F65-EB09-4C41-76DA-BC6CF8518E3B}"/>
              </a:ext>
            </a:extLst>
          </p:cNvPr>
          <p:cNvCxnSpPr/>
          <p:nvPr/>
        </p:nvCxnSpPr>
        <p:spPr>
          <a:xfrm>
            <a:off x="0" y="6786880"/>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ACB91DD-48C7-3A7E-9DBC-F2A3517C1273}"/>
              </a:ext>
            </a:extLst>
          </p:cNvPr>
          <p:cNvSpPr>
            <a:spLocks noGrp="1"/>
          </p:cNvSpPr>
          <p:nvPr>
            <p:ph type="sldNum" sz="quarter" idx="12"/>
          </p:nvPr>
        </p:nvSpPr>
        <p:spPr/>
        <p:txBody>
          <a:bodyPr/>
          <a:lstStyle/>
          <a:p>
            <a:fld id="{6C5FC05A-C924-4EE5-A853-ADA77C45D7CF}" type="slidenum">
              <a:rPr lang="en-IN" sz="2000" smtClean="0">
                <a:solidFill>
                  <a:schemeClr val="tx1"/>
                </a:solidFill>
              </a:rPr>
              <a:t>12</a:t>
            </a:fld>
            <a:endParaRPr lang="en-IN" sz="2000" dirty="0">
              <a:solidFill>
                <a:schemeClr val="tx1"/>
              </a:solidFill>
            </a:endParaRPr>
          </a:p>
        </p:txBody>
      </p:sp>
      <p:graphicFrame>
        <p:nvGraphicFramePr>
          <p:cNvPr id="11" name="Table 10">
            <a:extLst>
              <a:ext uri="{FF2B5EF4-FFF2-40B4-BE49-F238E27FC236}">
                <a16:creationId xmlns:a16="http://schemas.microsoft.com/office/drawing/2014/main" id="{F70A3F1A-40D7-D58D-9DE9-B7C645996C3F}"/>
              </a:ext>
            </a:extLst>
          </p:cNvPr>
          <p:cNvGraphicFramePr>
            <a:graphicFrameLocks noGrp="1"/>
          </p:cNvGraphicFramePr>
          <p:nvPr>
            <p:extLst>
              <p:ext uri="{D42A27DB-BD31-4B8C-83A1-F6EECF244321}">
                <p14:modId xmlns:p14="http://schemas.microsoft.com/office/powerpoint/2010/main" val="2911113862"/>
              </p:ext>
            </p:extLst>
          </p:nvPr>
        </p:nvGraphicFramePr>
        <p:xfrm>
          <a:off x="1954053" y="4682489"/>
          <a:ext cx="1441450" cy="1384300"/>
        </p:xfrm>
        <a:graphic>
          <a:graphicData uri="http://schemas.openxmlformats.org/drawingml/2006/table">
            <a:tbl>
              <a:tblPr/>
              <a:tblGrid>
                <a:gridCol w="285750">
                  <a:extLst>
                    <a:ext uri="{9D8B030D-6E8A-4147-A177-3AD203B41FA5}">
                      <a16:colId xmlns:a16="http://schemas.microsoft.com/office/drawing/2014/main" val="1793073233"/>
                    </a:ext>
                  </a:extLst>
                </a:gridCol>
                <a:gridCol w="304800">
                  <a:extLst>
                    <a:ext uri="{9D8B030D-6E8A-4147-A177-3AD203B41FA5}">
                      <a16:colId xmlns:a16="http://schemas.microsoft.com/office/drawing/2014/main" val="2295956355"/>
                    </a:ext>
                  </a:extLst>
                </a:gridCol>
                <a:gridCol w="273050">
                  <a:extLst>
                    <a:ext uri="{9D8B030D-6E8A-4147-A177-3AD203B41FA5}">
                      <a16:colId xmlns:a16="http://schemas.microsoft.com/office/drawing/2014/main" val="4081455911"/>
                    </a:ext>
                  </a:extLst>
                </a:gridCol>
                <a:gridCol w="285750">
                  <a:extLst>
                    <a:ext uri="{9D8B030D-6E8A-4147-A177-3AD203B41FA5}">
                      <a16:colId xmlns:a16="http://schemas.microsoft.com/office/drawing/2014/main" val="3057649288"/>
                    </a:ext>
                  </a:extLst>
                </a:gridCol>
                <a:gridCol w="292100">
                  <a:extLst>
                    <a:ext uri="{9D8B030D-6E8A-4147-A177-3AD203B41FA5}">
                      <a16:colId xmlns:a16="http://schemas.microsoft.com/office/drawing/2014/main" val="1604265368"/>
                    </a:ext>
                  </a:extLst>
                </a:gridCol>
              </a:tblGrid>
              <a:tr h="2603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780362926"/>
                  </a:ext>
                </a:extLst>
              </a:tr>
              <a:tr h="3111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04217132"/>
                  </a:ext>
                </a:extLst>
              </a:tr>
              <a:tr h="2730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360179497"/>
                  </a:ext>
                </a:extLst>
              </a:tr>
              <a:tr h="29210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a:solidFill>
                            <a:srgbClr val="7C7C7C"/>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4189153188"/>
                  </a:ext>
                </a:extLst>
              </a:tr>
              <a:tr h="2476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758269345"/>
                  </a:ext>
                </a:extLst>
              </a:tr>
            </a:tbl>
          </a:graphicData>
        </a:graphic>
      </p:graphicFrame>
      <p:graphicFrame>
        <p:nvGraphicFramePr>
          <p:cNvPr id="12" name="Table 11">
            <a:extLst>
              <a:ext uri="{FF2B5EF4-FFF2-40B4-BE49-F238E27FC236}">
                <a16:creationId xmlns:a16="http://schemas.microsoft.com/office/drawing/2014/main" id="{52F965AE-33B4-A243-77FC-5A9F5157A544}"/>
              </a:ext>
            </a:extLst>
          </p:cNvPr>
          <p:cNvGraphicFramePr>
            <a:graphicFrameLocks noGrp="1"/>
          </p:cNvGraphicFramePr>
          <p:nvPr>
            <p:extLst>
              <p:ext uri="{D42A27DB-BD31-4B8C-83A1-F6EECF244321}">
                <p14:modId xmlns:p14="http://schemas.microsoft.com/office/powerpoint/2010/main" val="1180736621"/>
              </p:ext>
            </p:extLst>
          </p:nvPr>
        </p:nvGraphicFramePr>
        <p:xfrm>
          <a:off x="619760" y="4997449"/>
          <a:ext cx="857250" cy="754380"/>
        </p:xfrm>
        <a:graphic>
          <a:graphicData uri="http://schemas.openxmlformats.org/drawingml/2006/table">
            <a:tbl>
              <a:tblPr/>
              <a:tblGrid>
                <a:gridCol w="266700">
                  <a:extLst>
                    <a:ext uri="{9D8B030D-6E8A-4147-A177-3AD203B41FA5}">
                      <a16:colId xmlns:a16="http://schemas.microsoft.com/office/drawing/2014/main" val="3994816309"/>
                    </a:ext>
                  </a:extLst>
                </a:gridCol>
                <a:gridCol w="257334">
                  <a:extLst>
                    <a:ext uri="{9D8B030D-6E8A-4147-A177-3AD203B41FA5}">
                      <a16:colId xmlns:a16="http://schemas.microsoft.com/office/drawing/2014/main" val="2499580565"/>
                    </a:ext>
                  </a:extLst>
                </a:gridCol>
                <a:gridCol w="333216">
                  <a:extLst>
                    <a:ext uri="{9D8B030D-6E8A-4147-A177-3AD203B41FA5}">
                      <a16:colId xmlns:a16="http://schemas.microsoft.com/office/drawing/2014/main" val="2037046663"/>
                    </a:ext>
                  </a:extLst>
                </a:gridCol>
              </a:tblGrid>
              <a:tr h="26670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806698118"/>
                  </a:ext>
                </a:extLst>
              </a:tr>
              <a:tr h="25908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822796989"/>
                  </a:ext>
                </a:extLst>
              </a:tr>
              <a:tr h="22860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385540978"/>
                  </a:ext>
                </a:extLst>
              </a:tr>
            </a:tbl>
          </a:graphicData>
        </a:graphic>
      </p:graphicFrame>
      <p:graphicFrame>
        <p:nvGraphicFramePr>
          <p:cNvPr id="13" name="Table 12">
            <a:extLst>
              <a:ext uri="{FF2B5EF4-FFF2-40B4-BE49-F238E27FC236}">
                <a16:creationId xmlns:a16="http://schemas.microsoft.com/office/drawing/2014/main" id="{F2974F93-8E3C-C245-9277-473F17541F7F}"/>
              </a:ext>
            </a:extLst>
          </p:cNvPr>
          <p:cNvGraphicFramePr>
            <a:graphicFrameLocks noGrp="1"/>
          </p:cNvGraphicFramePr>
          <p:nvPr>
            <p:extLst>
              <p:ext uri="{D42A27DB-BD31-4B8C-83A1-F6EECF244321}">
                <p14:modId xmlns:p14="http://schemas.microsoft.com/office/powerpoint/2010/main" val="3358806030"/>
              </p:ext>
            </p:extLst>
          </p:nvPr>
        </p:nvGraphicFramePr>
        <p:xfrm>
          <a:off x="3820953" y="5052377"/>
          <a:ext cx="857250" cy="737235"/>
        </p:xfrm>
        <a:graphic>
          <a:graphicData uri="http://schemas.openxmlformats.org/drawingml/2006/table">
            <a:tbl>
              <a:tblPr/>
              <a:tblGrid>
                <a:gridCol w="266700">
                  <a:extLst>
                    <a:ext uri="{9D8B030D-6E8A-4147-A177-3AD203B41FA5}">
                      <a16:colId xmlns:a16="http://schemas.microsoft.com/office/drawing/2014/main" val="3901066703"/>
                    </a:ext>
                  </a:extLst>
                </a:gridCol>
                <a:gridCol w="285750">
                  <a:extLst>
                    <a:ext uri="{9D8B030D-6E8A-4147-A177-3AD203B41FA5}">
                      <a16:colId xmlns:a16="http://schemas.microsoft.com/office/drawing/2014/main" val="4237895077"/>
                    </a:ext>
                  </a:extLst>
                </a:gridCol>
                <a:gridCol w="304800">
                  <a:extLst>
                    <a:ext uri="{9D8B030D-6E8A-4147-A177-3AD203B41FA5}">
                      <a16:colId xmlns:a16="http://schemas.microsoft.com/office/drawing/2014/main" val="774078518"/>
                    </a:ext>
                  </a:extLst>
                </a:gridCol>
              </a:tblGrid>
              <a:tr h="26670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r">
                        <a:lnSpc>
                          <a:spcPct val="107000"/>
                        </a:lnSpc>
                        <a:spcAft>
                          <a:spcPts val="800"/>
                        </a:spcAf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r">
                        <a:lnSpc>
                          <a:spcPct val="107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442615400"/>
                  </a:ext>
                </a:extLst>
              </a:tr>
              <a:tr h="241935">
                <a:tc>
                  <a:txBody>
                    <a:bodyPr/>
                    <a:lstStyle/>
                    <a:p>
                      <a:pPr algn="r">
                        <a:lnSpc>
                          <a:spcPct val="107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r">
                        <a:lnSpc>
                          <a:spcPct val="107000"/>
                        </a:lnSpc>
                        <a:spcAft>
                          <a:spcPts val="800"/>
                        </a:spcAf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r">
                        <a:lnSpc>
                          <a:spcPct val="107000"/>
                        </a:lnSpc>
                        <a:spcAft>
                          <a:spcPts val="800"/>
                        </a:spcAf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1633350021"/>
                  </a:ext>
                </a:extLst>
              </a:tr>
              <a:tr h="228600">
                <a:tc>
                  <a:txBody>
                    <a:bodyPr/>
                    <a:lstStyle/>
                    <a:p>
                      <a:pPr algn="r">
                        <a:lnSpc>
                          <a:spcPct val="107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r">
                        <a:lnSpc>
                          <a:spcPct val="107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r">
                        <a:lnSpc>
                          <a:spcPct val="107000"/>
                        </a:lnSpc>
                        <a:spcAft>
                          <a:spcPts val="800"/>
                        </a:spcAf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3507552122"/>
                  </a:ext>
                </a:extLst>
              </a:tr>
            </a:tbl>
          </a:graphicData>
        </a:graphic>
      </p:graphicFrame>
      <p:cxnSp>
        <p:nvCxnSpPr>
          <p:cNvPr id="28" name="Straight Arrow Connector 27">
            <a:extLst>
              <a:ext uri="{FF2B5EF4-FFF2-40B4-BE49-F238E27FC236}">
                <a16:creationId xmlns:a16="http://schemas.microsoft.com/office/drawing/2014/main" id="{AC17B2E1-6369-5F6F-2B4F-61556054AF8F}"/>
              </a:ext>
            </a:extLst>
          </p:cNvPr>
          <p:cNvCxnSpPr>
            <a:endCxn id="11" idx="1"/>
          </p:cNvCxnSpPr>
          <p:nvPr/>
        </p:nvCxnSpPr>
        <p:spPr>
          <a:xfrm>
            <a:off x="1477010" y="5374639"/>
            <a:ext cx="477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DAD3DA8-B5A2-ABA2-177E-1308ADF294F7}"/>
              </a:ext>
            </a:extLst>
          </p:cNvPr>
          <p:cNvCxnSpPr>
            <a:endCxn id="13" idx="1"/>
          </p:cNvCxnSpPr>
          <p:nvPr/>
        </p:nvCxnSpPr>
        <p:spPr>
          <a:xfrm>
            <a:off x="3395503" y="5420994"/>
            <a:ext cx="4254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A422472-F7BB-20CE-94A8-F2DDF3F72307}"/>
              </a:ext>
            </a:extLst>
          </p:cNvPr>
          <p:cNvSpPr txBox="1"/>
          <p:nvPr/>
        </p:nvSpPr>
        <p:spPr>
          <a:xfrm>
            <a:off x="589041" y="6192550"/>
            <a:ext cx="1101090" cy="338554"/>
          </a:xfrm>
          <a:prstGeom prst="rect">
            <a:avLst/>
          </a:prstGeom>
          <a:solidFill>
            <a:schemeClr val="bg1"/>
          </a:solidFill>
        </p:spPr>
        <p:txBody>
          <a:bodyPr wrap="square" rtlCol="0">
            <a:spAutoFit/>
          </a:bodyPr>
          <a:lstStyle/>
          <a:p>
            <a:r>
              <a:rPr lang="en-US" sz="1600" dirty="0">
                <a:latin typeface="Times New Roman" panose="02020603050405020304" pitchFamily="18" charset="0"/>
                <a:cs typeface="Times New Roman" panose="02020603050405020304" pitchFamily="18" charset="0"/>
              </a:rPr>
              <a:t>KERNEL</a:t>
            </a:r>
            <a:endParaRPr lang="en-IN" sz="16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C87C1CAF-3644-120E-D223-644F150E65B8}"/>
              </a:ext>
            </a:extLst>
          </p:cNvPr>
          <p:cNvSpPr txBox="1"/>
          <p:nvPr/>
        </p:nvSpPr>
        <p:spPr>
          <a:xfrm>
            <a:off x="1954053" y="6238240"/>
            <a:ext cx="162734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INPUT IMAGE</a:t>
            </a:r>
            <a:endParaRPr lang="en-IN" sz="16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C4262EC5-6C7B-5F23-F345-95B56EDD8775}"/>
              </a:ext>
            </a:extLst>
          </p:cNvPr>
          <p:cNvSpPr txBox="1"/>
          <p:nvPr/>
        </p:nvSpPr>
        <p:spPr>
          <a:xfrm>
            <a:off x="3500278" y="6085933"/>
            <a:ext cx="1498600" cy="584775"/>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FEATURE             MAP</a:t>
            </a:r>
            <a:endParaRPr lang="en-IN" sz="1600" dirty="0">
              <a:latin typeface="Times New Roman" panose="02020603050405020304" pitchFamily="18" charset="0"/>
              <a:cs typeface="Times New Roman" panose="02020603050405020304" pitchFamily="18" charset="0"/>
            </a:endParaRPr>
          </a:p>
        </p:txBody>
      </p:sp>
      <p:graphicFrame>
        <p:nvGraphicFramePr>
          <p:cNvPr id="36" name="Table 35">
            <a:extLst>
              <a:ext uri="{FF2B5EF4-FFF2-40B4-BE49-F238E27FC236}">
                <a16:creationId xmlns:a16="http://schemas.microsoft.com/office/drawing/2014/main" id="{19E36BE3-D88E-94E5-3156-CE77FA08F1BC}"/>
              </a:ext>
            </a:extLst>
          </p:cNvPr>
          <p:cNvGraphicFramePr>
            <a:graphicFrameLocks noGrp="1"/>
          </p:cNvGraphicFramePr>
          <p:nvPr>
            <p:extLst>
              <p:ext uri="{D42A27DB-BD31-4B8C-83A1-F6EECF244321}">
                <p14:modId xmlns:p14="http://schemas.microsoft.com/office/powerpoint/2010/main" val="3336601187"/>
              </p:ext>
            </p:extLst>
          </p:nvPr>
        </p:nvGraphicFramePr>
        <p:xfrm>
          <a:off x="6597494" y="4442013"/>
          <a:ext cx="1784350" cy="1530350"/>
        </p:xfrm>
        <a:graphic>
          <a:graphicData uri="http://schemas.openxmlformats.org/drawingml/2006/table">
            <a:tbl>
              <a:tblPr/>
              <a:tblGrid>
                <a:gridCol w="431800">
                  <a:extLst>
                    <a:ext uri="{9D8B030D-6E8A-4147-A177-3AD203B41FA5}">
                      <a16:colId xmlns:a16="http://schemas.microsoft.com/office/drawing/2014/main" val="983875690"/>
                    </a:ext>
                  </a:extLst>
                </a:gridCol>
                <a:gridCol w="488950">
                  <a:extLst>
                    <a:ext uri="{9D8B030D-6E8A-4147-A177-3AD203B41FA5}">
                      <a16:colId xmlns:a16="http://schemas.microsoft.com/office/drawing/2014/main" val="87096468"/>
                    </a:ext>
                  </a:extLst>
                </a:gridCol>
                <a:gridCol w="406400">
                  <a:extLst>
                    <a:ext uri="{9D8B030D-6E8A-4147-A177-3AD203B41FA5}">
                      <a16:colId xmlns:a16="http://schemas.microsoft.com/office/drawing/2014/main" val="3672340082"/>
                    </a:ext>
                  </a:extLst>
                </a:gridCol>
                <a:gridCol w="457200">
                  <a:extLst>
                    <a:ext uri="{9D8B030D-6E8A-4147-A177-3AD203B41FA5}">
                      <a16:colId xmlns:a16="http://schemas.microsoft.com/office/drawing/2014/main" val="1863176512"/>
                    </a:ext>
                  </a:extLst>
                </a:gridCol>
              </a:tblGrid>
              <a:tr h="3492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915096613"/>
                  </a:ext>
                </a:extLst>
              </a:tr>
              <a:tr h="3873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639674898"/>
                  </a:ext>
                </a:extLst>
              </a:tr>
              <a:tr h="4381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589940604"/>
                  </a:ext>
                </a:extLst>
              </a:tr>
              <a:tr h="35560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3382540833"/>
                  </a:ext>
                </a:extLst>
              </a:tr>
            </a:tbl>
          </a:graphicData>
        </a:graphic>
      </p:graphicFrame>
      <p:graphicFrame>
        <p:nvGraphicFramePr>
          <p:cNvPr id="37" name="Table 36">
            <a:extLst>
              <a:ext uri="{FF2B5EF4-FFF2-40B4-BE49-F238E27FC236}">
                <a16:creationId xmlns:a16="http://schemas.microsoft.com/office/drawing/2014/main" id="{1196648C-12BA-7FF7-E976-EAFA5E6794B9}"/>
              </a:ext>
            </a:extLst>
          </p:cNvPr>
          <p:cNvGraphicFramePr>
            <a:graphicFrameLocks noGrp="1"/>
          </p:cNvGraphicFramePr>
          <p:nvPr>
            <p:extLst>
              <p:ext uri="{D42A27DB-BD31-4B8C-83A1-F6EECF244321}">
                <p14:modId xmlns:p14="http://schemas.microsoft.com/office/powerpoint/2010/main" val="2770717870"/>
              </p:ext>
            </p:extLst>
          </p:nvPr>
        </p:nvGraphicFramePr>
        <p:xfrm>
          <a:off x="9571834" y="4273644"/>
          <a:ext cx="723900" cy="590550"/>
        </p:xfrm>
        <a:graphic>
          <a:graphicData uri="http://schemas.openxmlformats.org/drawingml/2006/table">
            <a:tbl>
              <a:tblPr/>
              <a:tblGrid>
                <a:gridCol w="342900">
                  <a:extLst>
                    <a:ext uri="{9D8B030D-6E8A-4147-A177-3AD203B41FA5}">
                      <a16:colId xmlns:a16="http://schemas.microsoft.com/office/drawing/2014/main" val="989497818"/>
                    </a:ext>
                  </a:extLst>
                </a:gridCol>
                <a:gridCol w="381000">
                  <a:extLst>
                    <a:ext uri="{9D8B030D-6E8A-4147-A177-3AD203B41FA5}">
                      <a16:colId xmlns:a16="http://schemas.microsoft.com/office/drawing/2014/main" val="1598314666"/>
                    </a:ext>
                  </a:extLst>
                </a:gridCol>
              </a:tblGrid>
              <a:tr h="29210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2604582701"/>
                  </a:ext>
                </a:extLst>
              </a:tr>
              <a:tr h="29845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3586752855"/>
                  </a:ext>
                </a:extLst>
              </a:tr>
            </a:tbl>
          </a:graphicData>
        </a:graphic>
      </p:graphicFrame>
      <p:graphicFrame>
        <p:nvGraphicFramePr>
          <p:cNvPr id="38" name="Table 37">
            <a:extLst>
              <a:ext uri="{FF2B5EF4-FFF2-40B4-BE49-F238E27FC236}">
                <a16:creationId xmlns:a16="http://schemas.microsoft.com/office/drawing/2014/main" id="{65DA6919-20DC-EFDD-1C18-A21244C72CC2}"/>
              </a:ext>
            </a:extLst>
          </p:cNvPr>
          <p:cNvGraphicFramePr>
            <a:graphicFrameLocks noGrp="1"/>
          </p:cNvGraphicFramePr>
          <p:nvPr>
            <p:extLst>
              <p:ext uri="{D42A27DB-BD31-4B8C-83A1-F6EECF244321}">
                <p14:modId xmlns:p14="http://schemas.microsoft.com/office/powerpoint/2010/main" val="2075305278"/>
              </p:ext>
            </p:extLst>
          </p:nvPr>
        </p:nvGraphicFramePr>
        <p:xfrm>
          <a:off x="9571834" y="5474111"/>
          <a:ext cx="742950" cy="594360"/>
        </p:xfrm>
        <a:graphic>
          <a:graphicData uri="http://schemas.openxmlformats.org/drawingml/2006/table">
            <a:tbl>
              <a:tblPr/>
              <a:tblGrid>
                <a:gridCol w="355600">
                  <a:extLst>
                    <a:ext uri="{9D8B030D-6E8A-4147-A177-3AD203B41FA5}">
                      <a16:colId xmlns:a16="http://schemas.microsoft.com/office/drawing/2014/main" val="3015282002"/>
                    </a:ext>
                  </a:extLst>
                </a:gridCol>
                <a:gridCol w="387350">
                  <a:extLst>
                    <a:ext uri="{9D8B030D-6E8A-4147-A177-3AD203B41FA5}">
                      <a16:colId xmlns:a16="http://schemas.microsoft.com/office/drawing/2014/main" val="509984405"/>
                    </a:ext>
                  </a:extLst>
                </a:gridCol>
              </a:tblGrid>
              <a:tr h="26416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544619844"/>
                  </a:ext>
                </a:extLst>
              </a:tr>
              <a:tr h="330200">
                <a:tc>
                  <a:txBody>
                    <a:bodyPr/>
                    <a:lstStyle/>
                    <a:p>
                      <a:pPr algn="ctr">
                        <a:lnSpc>
                          <a:spcPct val="107000"/>
                        </a:lnSpc>
                        <a:spcAft>
                          <a:spcPts val="800"/>
                        </a:spcAft>
                      </a:pPr>
                      <a:r>
                        <a:rPr lang="en-IN" sz="11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algn="ctr">
                        <a:lnSpc>
                          <a:spcPct val="107000"/>
                        </a:lnSpc>
                        <a:spcAft>
                          <a:spcPts val="800"/>
                        </a:spcAft>
                      </a:pPr>
                      <a:r>
                        <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3566298900"/>
                  </a:ext>
                </a:extLst>
              </a:tr>
            </a:tbl>
          </a:graphicData>
        </a:graphic>
      </p:graphicFrame>
      <p:cxnSp>
        <p:nvCxnSpPr>
          <p:cNvPr id="41" name="Straight Arrow Connector 40">
            <a:extLst>
              <a:ext uri="{FF2B5EF4-FFF2-40B4-BE49-F238E27FC236}">
                <a16:creationId xmlns:a16="http://schemas.microsoft.com/office/drawing/2014/main" id="{D6041182-F948-A212-8CB0-23B145D26B2E}"/>
              </a:ext>
            </a:extLst>
          </p:cNvPr>
          <p:cNvCxnSpPr>
            <a:endCxn id="37" idx="1"/>
          </p:cNvCxnSpPr>
          <p:nvPr/>
        </p:nvCxnSpPr>
        <p:spPr>
          <a:xfrm flipV="1">
            <a:off x="8381844" y="4568919"/>
            <a:ext cx="1189990" cy="600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F0510EA-6C06-D2B1-C497-E955218B47A7}"/>
              </a:ext>
            </a:extLst>
          </p:cNvPr>
          <p:cNvCxnSpPr>
            <a:endCxn id="38" idx="1"/>
          </p:cNvCxnSpPr>
          <p:nvPr/>
        </p:nvCxnSpPr>
        <p:spPr>
          <a:xfrm>
            <a:off x="8381844" y="5235035"/>
            <a:ext cx="1189990" cy="536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6EA99EA-0B18-23AC-308C-8066BEB6D62E}"/>
              </a:ext>
            </a:extLst>
          </p:cNvPr>
          <p:cNvSpPr txBox="1"/>
          <p:nvPr/>
        </p:nvSpPr>
        <p:spPr>
          <a:xfrm>
            <a:off x="8502494" y="4568919"/>
            <a:ext cx="652303" cy="369332"/>
          </a:xfrm>
          <a:prstGeom prst="rect">
            <a:avLst/>
          </a:prstGeom>
          <a:noFill/>
        </p:spPr>
        <p:txBody>
          <a:bodyPr wrap="square" rtlCol="0">
            <a:spAutoFit/>
          </a:bodyPr>
          <a:lstStyle/>
          <a:p>
            <a:endParaRPr lang="en-IN" dirty="0"/>
          </a:p>
        </p:txBody>
      </p:sp>
      <p:sp>
        <p:nvSpPr>
          <p:cNvPr id="50" name="TextBox 49">
            <a:extLst>
              <a:ext uri="{FF2B5EF4-FFF2-40B4-BE49-F238E27FC236}">
                <a16:creationId xmlns:a16="http://schemas.microsoft.com/office/drawing/2014/main" id="{DD0B533C-557D-E176-D080-E666A277C7AF}"/>
              </a:ext>
            </a:extLst>
          </p:cNvPr>
          <p:cNvSpPr txBox="1"/>
          <p:nvPr/>
        </p:nvSpPr>
        <p:spPr>
          <a:xfrm>
            <a:off x="10436704" y="4321895"/>
            <a:ext cx="1755296" cy="369332"/>
          </a:xfrm>
          <a:prstGeom prst="rect">
            <a:avLst/>
          </a:prstGeom>
          <a:noFill/>
        </p:spPr>
        <p:txBody>
          <a:bodyPr wrap="square" rtlCol="0">
            <a:spAutoFit/>
          </a:bodyPr>
          <a:lstStyle/>
          <a:p>
            <a:r>
              <a:rPr lang="en-US" dirty="0">
                <a:solidFill>
                  <a:schemeClr val="accent1">
                    <a:lumMod val="75000"/>
                  </a:schemeClr>
                </a:solidFill>
                <a:latin typeface="Times New Roman" panose="02020603050405020304" pitchFamily="18" charset="0"/>
                <a:cs typeface="Times New Roman" panose="02020603050405020304" pitchFamily="18" charset="0"/>
              </a:rPr>
              <a:t>Max pooling</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F21360FE-B838-5E4E-1245-738485687DD2}"/>
              </a:ext>
            </a:extLst>
          </p:cNvPr>
          <p:cNvSpPr txBox="1"/>
          <p:nvPr/>
        </p:nvSpPr>
        <p:spPr>
          <a:xfrm>
            <a:off x="10314784" y="5554384"/>
            <a:ext cx="1877216" cy="369332"/>
          </a:xfrm>
          <a:prstGeom prst="rect">
            <a:avLst/>
          </a:prstGeom>
          <a:noFill/>
        </p:spPr>
        <p:txBody>
          <a:bodyPr wrap="square" rtlCol="0">
            <a:spAutoFit/>
          </a:bodyPr>
          <a:lstStyle/>
          <a:p>
            <a:r>
              <a:rPr lang="en-US" dirty="0">
                <a:solidFill>
                  <a:schemeClr val="accent1">
                    <a:lumMod val="75000"/>
                  </a:schemeClr>
                </a:solidFill>
              </a:rPr>
              <a:t>Average pooling</a:t>
            </a:r>
            <a:endParaRPr lang="en-IN" dirty="0">
              <a:solidFill>
                <a:schemeClr val="accent1">
                  <a:lumMod val="75000"/>
                </a:schemeClr>
              </a:solidFill>
            </a:endParaRPr>
          </a:p>
        </p:txBody>
      </p:sp>
      <p:sp>
        <p:nvSpPr>
          <p:cNvPr id="52" name="TextBox 51">
            <a:extLst>
              <a:ext uri="{FF2B5EF4-FFF2-40B4-BE49-F238E27FC236}">
                <a16:creationId xmlns:a16="http://schemas.microsoft.com/office/drawing/2014/main" id="{64355AE1-10A0-EDEB-8B02-F38625698913}"/>
              </a:ext>
            </a:extLst>
          </p:cNvPr>
          <p:cNvSpPr txBox="1"/>
          <p:nvPr/>
        </p:nvSpPr>
        <p:spPr>
          <a:xfrm>
            <a:off x="5603240" y="6290526"/>
            <a:ext cx="5262880" cy="369332"/>
          </a:xfrm>
          <a:prstGeom prst="rect">
            <a:avLst/>
          </a:prstGeom>
          <a:noFill/>
        </p:spPr>
        <p:txBody>
          <a:bodyPr wrap="square" rtlCol="0">
            <a:spAutoFit/>
          </a:bodyPr>
          <a:lstStyle/>
          <a:p>
            <a:r>
              <a:rPr lang="en-US" sz="900" b="0" i="0" u="none" strike="noStrike" baseline="0" dirty="0">
                <a:solidFill>
                  <a:srgbClr val="000000"/>
                </a:solidFill>
                <a:latin typeface="Times New Roman" panose="02020603050405020304" pitchFamily="18" charset="0"/>
              </a:rPr>
              <a:t>[10] ‘CNN architecture - detailed explanation’, </a:t>
            </a:r>
            <a:r>
              <a:rPr lang="en-US" sz="900" b="0" i="0" u="none" strike="noStrike" baseline="0" dirty="0" err="1">
                <a:solidFill>
                  <a:srgbClr val="000000"/>
                </a:solidFill>
                <a:latin typeface="Times New Roman" panose="02020603050405020304" pitchFamily="18" charset="0"/>
              </a:rPr>
              <a:t>InterviewBit</a:t>
            </a:r>
            <a:r>
              <a:rPr lang="en-US" sz="900" b="0" i="0" u="none" strike="noStrike" baseline="0" dirty="0">
                <a:solidFill>
                  <a:srgbClr val="000000"/>
                </a:solidFill>
                <a:latin typeface="Times New Roman" panose="02020603050405020304" pitchFamily="18" charset="0"/>
              </a:rPr>
              <a:t>, 10-Jun-2022. [Online]. Available: https://www.interviewbit.com/blog/cnn-architecture/. [Accessed: 05-Sep-2023]. </a:t>
            </a:r>
            <a:endParaRPr lang="en-IN" sz="900" dirty="0"/>
          </a:p>
        </p:txBody>
      </p:sp>
    </p:spTree>
    <p:extLst>
      <p:ext uri="{BB962C8B-B14F-4D97-AF65-F5344CB8AC3E}">
        <p14:creationId xmlns:p14="http://schemas.microsoft.com/office/powerpoint/2010/main" val="2063283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308D-683C-293B-C947-6815E971E9F9}"/>
              </a:ext>
            </a:extLst>
          </p:cNvPr>
          <p:cNvSpPr>
            <a:spLocks noGrp="1"/>
          </p:cNvSpPr>
          <p:nvPr>
            <p:ph type="title"/>
          </p:nvPr>
        </p:nvSpPr>
        <p:spPr>
          <a:xfrm>
            <a:off x="838200" y="276082"/>
            <a:ext cx="10515600" cy="1325563"/>
          </a:xfrm>
        </p:spPr>
        <p:txBody>
          <a:bodyPr>
            <a:norm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                     CNN ARCHITECTURE</a:t>
            </a:r>
          </a:p>
        </p:txBody>
      </p:sp>
      <p:sp>
        <p:nvSpPr>
          <p:cNvPr id="3" name="Content Placeholder 2">
            <a:extLst>
              <a:ext uri="{FF2B5EF4-FFF2-40B4-BE49-F238E27FC236}">
                <a16:creationId xmlns:a16="http://schemas.microsoft.com/office/drawing/2014/main" id="{990015F4-D136-6049-4F28-85DB1ADE7161}"/>
              </a:ext>
            </a:extLst>
          </p:cNvPr>
          <p:cNvSpPr>
            <a:spLocks noGrp="1"/>
          </p:cNvSpPr>
          <p:nvPr>
            <p:ph sz="half" idx="1"/>
          </p:nvPr>
        </p:nvSpPr>
        <p:spPr>
          <a:xfrm>
            <a:off x="695960" y="1847850"/>
            <a:ext cx="5181600" cy="4351338"/>
          </a:xfrm>
        </p:spPr>
        <p:txBody>
          <a:bodyPr/>
          <a:lstStyle/>
          <a:p>
            <a:pPr marL="0" indent="0">
              <a:buNone/>
            </a:pPr>
            <a:r>
              <a:rPr lang="en-IN" u="sng" dirty="0">
                <a:latin typeface="Times New Roman" panose="02020603050405020304" pitchFamily="18" charset="0"/>
                <a:cs typeface="Times New Roman" panose="02020603050405020304" pitchFamily="18" charset="0"/>
              </a:rPr>
              <a:t>FULLY CONNECTED LAYER</a:t>
            </a:r>
          </a:p>
          <a:p>
            <a:pPr marL="0" indent="0">
              <a:buNone/>
            </a:pPr>
            <a:endParaRPr lang="en-IN" u="sng"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Conventional artificial neural network</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Each neuron is connected to all the neurons in the previous layer</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Responsible for final classification and prediction </a:t>
            </a:r>
          </a:p>
        </p:txBody>
      </p:sp>
      <p:cxnSp>
        <p:nvCxnSpPr>
          <p:cNvPr id="5" name="Straight Connector 4">
            <a:extLst>
              <a:ext uri="{FF2B5EF4-FFF2-40B4-BE49-F238E27FC236}">
                <a16:creationId xmlns:a16="http://schemas.microsoft.com/office/drawing/2014/main" id="{851736D5-DC83-A9E8-7DC7-84ADF7E3C507}"/>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3119983-B8CD-34C4-67EC-8E72EE6AA1E3}"/>
              </a:ext>
            </a:extLst>
          </p:cNvPr>
          <p:cNvCxnSpPr/>
          <p:nvPr/>
        </p:nvCxnSpPr>
        <p:spPr>
          <a:xfrm>
            <a:off x="0" y="678688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249B660E-1320-BF84-F9DD-C9F80CB118CC}"/>
              </a:ext>
            </a:extLst>
          </p:cNvPr>
          <p:cNvSpPr>
            <a:spLocks noGrp="1"/>
          </p:cNvSpPr>
          <p:nvPr>
            <p:ph type="sldNum" sz="quarter" idx="12"/>
          </p:nvPr>
        </p:nvSpPr>
        <p:spPr/>
        <p:txBody>
          <a:bodyPr/>
          <a:lstStyle/>
          <a:p>
            <a:fld id="{6C5FC05A-C924-4EE5-A853-ADA77C45D7CF}" type="slidenum">
              <a:rPr lang="en-IN" sz="2000" smtClean="0">
                <a:solidFill>
                  <a:schemeClr val="tx1"/>
                </a:solidFill>
              </a:rPr>
              <a:t>13</a:t>
            </a:fld>
            <a:endParaRPr lang="en-IN" sz="2000" dirty="0">
              <a:solidFill>
                <a:schemeClr val="tx1"/>
              </a:solidFill>
            </a:endParaRPr>
          </a:p>
        </p:txBody>
      </p:sp>
      <p:pic>
        <p:nvPicPr>
          <p:cNvPr id="9" name="Content Placeholder 8">
            <a:extLst>
              <a:ext uri="{FF2B5EF4-FFF2-40B4-BE49-F238E27FC236}">
                <a16:creationId xmlns:a16="http://schemas.microsoft.com/office/drawing/2014/main" id="{565328D2-60C0-63DD-2AEA-C1563A4BDE0F}"/>
              </a:ext>
            </a:extLst>
          </p:cNvPr>
          <p:cNvPicPr>
            <a:picLocks noGrp="1" noChangeAspect="1"/>
          </p:cNvPicPr>
          <p:nvPr>
            <p:ph sz="half" idx="2"/>
          </p:nvPr>
        </p:nvPicPr>
        <p:blipFill>
          <a:blip r:embed="rId2"/>
          <a:stretch>
            <a:fillRect/>
          </a:stretch>
        </p:blipFill>
        <p:spPr>
          <a:xfrm>
            <a:off x="10047940" y="4558975"/>
            <a:ext cx="248999" cy="223241"/>
          </a:xfrm>
          <a:prstGeom prst="rect">
            <a:avLst/>
          </a:prstGeom>
        </p:spPr>
      </p:pic>
      <p:sp>
        <p:nvSpPr>
          <p:cNvPr id="10" name="Rectangle: Rounded Corners 9">
            <a:extLst>
              <a:ext uri="{FF2B5EF4-FFF2-40B4-BE49-F238E27FC236}">
                <a16:creationId xmlns:a16="http://schemas.microsoft.com/office/drawing/2014/main" id="{E49D3C63-D3D7-B818-934A-89E7D98E78F2}"/>
              </a:ext>
            </a:extLst>
          </p:cNvPr>
          <p:cNvSpPr/>
          <p:nvPr/>
        </p:nvSpPr>
        <p:spPr>
          <a:xfrm>
            <a:off x="7252970" y="2889421"/>
            <a:ext cx="275590" cy="260979"/>
          </a:xfrm>
          <a:prstGeom prst="round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1" name="Rectangle: Rounded Corners 10">
            <a:extLst>
              <a:ext uri="{FF2B5EF4-FFF2-40B4-BE49-F238E27FC236}">
                <a16:creationId xmlns:a16="http://schemas.microsoft.com/office/drawing/2014/main" id="{4FF0E83E-F52D-D30B-7AAA-4EAE3BF9C8DA}"/>
              </a:ext>
            </a:extLst>
          </p:cNvPr>
          <p:cNvSpPr/>
          <p:nvPr/>
        </p:nvSpPr>
        <p:spPr>
          <a:xfrm>
            <a:off x="7273290" y="3984806"/>
            <a:ext cx="265430" cy="241754"/>
          </a:xfrm>
          <a:prstGeom prst="roundRect">
            <a:avLst/>
          </a:prstGeom>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2" name="Rectangle: Rounded Corners 11">
            <a:extLst>
              <a:ext uri="{FF2B5EF4-FFF2-40B4-BE49-F238E27FC236}">
                <a16:creationId xmlns:a16="http://schemas.microsoft.com/office/drawing/2014/main" id="{3192AE35-115C-39FE-A4CE-3E2EE969A2C8}"/>
              </a:ext>
            </a:extLst>
          </p:cNvPr>
          <p:cNvSpPr/>
          <p:nvPr/>
        </p:nvSpPr>
        <p:spPr>
          <a:xfrm>
            <a:off x="7263130" y="3453606"/>
            <a:ext cx="265430" cy="253995"/>
          </a:xfrm>
          <a:prstGeom prst="roundRect">
            <a:avLst/>
          </a:prstGeom>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3" name="Oval 12">
            <a:extLst>
              <a:ext uri="{FF2B5EF4-FFF2-40B4-BE49-F238E27FC236}">
                <a16:creationId xmlns:a16="http://schemas.microsoft.com/office/drawing/2014/main" id="{35D92CC6-EC28-3C45-B1B9-8BB51B144C7E}"/>
              </a:ext>
            </a:extLst>
          </p:cNvPr>
          <p:cNvSpPr/>
          <p:nvPr/>
        </p:nvSpPr>
        <p:spPr>
          <a:xfrm>
            <a:off x="8610600" y="2235065"/>
            <a:ext cx="260351" cy="215121"/>
          </a:xfrm>
          <a:prstGeom prst="ellips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96306D70-7D5C-9B96-88CA-B8F89565A68C}"/>
              </a:ext>
            </a:extLst>
          </p:cNvPr>
          <p:cNvSpPr/>
          <p:nvPr/>
        </p:nvSpPr>
        <p:spPr>
          <a:xfrm>
            <a:off x="8610600" y="3037879"/>
            <a:ext cx="265430" cy="279163"/>
          </a:xfrm>
          <a:prstGeom prst="ellips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400543E0-749B-D993-24C5-8ECBEC5294E3}"/>
              </a:ext>
            </a:extLst>
          </p:cNvPr>
          <p:cNvSpPr/>
          <p:nvPr/>
        </p:nvSpPr>
        <p:spPr>
          <a:xfrm>
            <a:off x="8623626" y="4721440"/>
            <a:ext cx="265429" cy="257241"/>
          </a:xfrm>
          <a:prstGeom prst="ellips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58BD242B-196C-F4F4-0339-64E209B7E0AD}"/>
              </a:ext>
            </a:extLst>
          </p:cNvPr>
          <p:cNvSpPr/>
          <p:nvPr/>
        </p:nvSpPr>
        <p:spPr>
          <a:xfrm>
            <a:off x="8623625" y="3848436"/>
            <a:ext cx="265430" cy="257247"/>
          </a:xfrm>
          <a:prstGeom prst="ellips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pic>
        <p:nvPicPr>
          <p:cNvPr id="17" name="Content Placeholder 8">
            <a:extLst>
              <a:ext uri="{FF2B5EF4-FFF2-40B4-BE49-F238E27FC236}">
                <a16:creationId xmlns:a16="http://schemas.microsoft.com/office/drawing/2014/main" id="{758033F1-A8A8-DFFC-053C-E15CB1979164}"/>
              </a:ext>
            </a:extLst>
          </p:cNvPr>
          <p:cNvPicPr>
            <a:picLocks noChangeAspect="1"/>
          </p:cNvPicPr>
          <p:nvPr/>
        </p:nvPicPr>
        <p:blipFill>
          <a:blip r:embed="rId2"/>
          <a:stretch>
            <a:fillRect/>
          </a:stretch>
        </p:blipFill>
        <p:spPr>
          <a:xfrm>
            <a:off x="10041863" y="4022794"/>
            <a:ext cx="248999" cy="223241"/>
          </a:xfrm>
          <a:prstGeom prst="rect">
            <a:avLst/>
          </a:prstGeom>
        </p:spPr>
      </p:pic>
      <p:pic>
        <p:nvPicPr>
          <p:cNvPr id="18" name="Content Placeholder 8">
            <a:extLst>
              <a:ext uri="{FF2B5EF4-FFF2-40B4-BE49-F238E27FC236}">
                <a16:creationId xmlns:a16="http://schemas.microsoft.com/office/drawing/2014/main" id="{746FB2D0-3C1B-4BB6-12E6-9298916ED6F4}"/>
              </a:ext>
            </a:extLst>
          </p:cNvPr>
          <p:cNvPicPr>
            <a:picLocks noChangeAspect="1"/>
          </p:cNvPicPr>
          <p:nvPr/>
        </p:nvPicPr>
        <p:blipFill>
          <a:blip r:embed="rId2"/>
          <a:stretch>
            <a:fillRect/>
          </a:stretch>
        </p:blipFill>
        <p:spPr>
          <a:xfrm>
            <a:off x="10018757" y="3453606"/>
            <a:ext cx="248999" cy="223241"/>
          </a:xfrm>
          <a:prstGeom prst="rect">
            <a:avLst/>
          </a:prstGeom>
        </p:spPr>
      </p:pic>
      <p:pic>
        <p:nvPicPr>
          <p:cNvPr id="19" name="Content Placeholder 8">
            <a:extLst>
              <a:ext uri="{FF2B5EF4-FFF2-40B4-BE49-F238E27FC236}">
                <a16:creationId xmlns:a16="http://schemas.microsoft.com/office/drawing/2014/main" id="{A4E9AC73-A9AD-4D1B-9676-5AA910D7A8B5}"/>
              </a:ext>
            </a:extLst>
          </p:cNvPr>
          <p:cNvPicPr>
            <a:picLocks noChangeAspect="1"/>
          </p:cNvPicPr>
          <p:nvPr/>
        </p:nvPicPr>
        <p:blipFill>
          <a:blip r:embed="rId2"/>
          <a:stretch>
            <a:fillRect/>
          </a:stretch>
        </p:blipFill>
        <p:spPr>
          <a:xfrm>
            <a:off x="10017931" y="2850117"/>
            <a:ext cx="248999" cy="223241"/>
          </a:xfrm>
          <a:prstGeom prst="rect">
            <a:avLst/>
          </a:prstGeom>
        </p:spPr>
      </p:pic>
      <p:cxnSp>
        <p:nvCxnSpPr>
          <p:cNvPr id="21" name="Straight Arrow Connector 20">
            <a:extLst>
              <a:ext uri="{FF2B5EF4-FFF2-40B4-BE49-F238E27FC236}">
                <a16:creationId xmlns:a16="http://schemas.microsoft.com/office/drawing/2014/main" id="{0CB656DF-986F-DADC-BB9E-84D092DFE00C}"/>
              </a:ext>
            </a:extLst>
          </p:cNvPr>
          <p:cNvCxnSpPr>
            <a:stCxn id="10" idx="3"/>
            <a:endCxn id="13" idx="3"/>
          </p:cNvCxnSpPr>
          <p:nvPr/>
        </p:nvCxnSpPr>
        <p:spPr>
          <a:xfrm flipV="1">
            <a:off x="7528560" y="2418682"/>
            <a:ext cx="1120168" cy="601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CEC6B39-2ED0-C2D4-209D-FDA8932C2B4C}"/>
              </a:ext>
            </a:extLst>
          </p:cNvPr>
          <p:cNvCxnSpPr>
            <a:stCxn id="10" idx="3"/>
            <a:endCxn id="14" idx="2"/>
          </p:cNvCxnSpPr>
          <p:nvPr/>
        </p:nvCxnSpPr>
        <p:spPr>
          <a:xfrm>
            <a:off x="7528560" y="3019911"/>
            <a:ext cx="1082040" cy="157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8D9760B-6C9A-416A-4980-669D1F79C37F}"/>
              </a:ext>
            </a:extLst>
          </p:cNvPr>
          <p:cNvCxnSpPr>
            <a:stCxn id="10" idx="3"/>
            <a:endCxn id="16" idx="1"/>
          </p:cNvCxnSpPr>
          <p:nvPr/>
        </p:nvCxnSpPr>
        <p:spPr>
          <a:xfrm>
            <a:off x="7528560" y="3019911"/>
            <a:ext cx="1133936" cy="8661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FAC8F37-9062-BD8F-8FDD-A552F2F937DE}"/>
              </a:ext>
            </a:extLst>
          </p:cNvPr>
          <p:cNvCxnSpPr>
            <a:stCxn id="10" idx="3"/>
            <a:endCxn id="15" idx="1"/>
          </p:cNvCxnSpPr>
          <p:nvPr/>
        </p:nvCxnSpPr>
        <p:spPr>
          <a:xfrm>
            <a:off x="7528560" y="3019911"/>
            <a:ext cx="1133937" cy="1739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1AF81E6-DFE1-8AAE-8E07-B6F029F32C83}"/>
              </a:ext>
            </a:extLst>
          </p:cNvPr>
          <p:cNvCxnSpPr>
            <a:stCxn id="12" idx="3"/>
            <a:endCxn id="13" idx="3"/>
          </p:cNvCxnSpPr>
          <p:nvPr/>
        </p:nvCxnSpPr>
        <p:spPr>
          <a:xfrm flipV="1">
            <a:off x="7528560" y="2418682"/>
            <a:ext cx="1120168" cy="1161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2531E08-A374-B5F8-5B3C-7CF1395D049B}"/>
              </a:ext>
            </a:extLst>
          </p:cNvPr>
          <p:cNvCxnSpPr>
            <a:cxnSpLocks/>
            <a:stCxn id="12" idx="3"/>
            <a:endCxn id="14" idx="2"/>
          </p:cNvCxnSpPr>
          <p:nvPr/>
        </p:nvCxnSpPr>
        <p:spPr>
          <a:xfrm flipV="1">
            <a:off x="7528560" y="3177461"/>
            <a:ext cx="1082040" cy="403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49AFCA1-A4C7-B57F-EC87-752A41C59169}"/>
              </a:ext>
            </a:extLst>
          </p:cNvPr>
          <p:cNvCxnSpPr>
            <a:stCxn id="12" idx="3"/>
            <a:endCxn id="16" idx="1"/>
          </p:cNvCxnSpPr>
          <p:nvPr/>
        </p:nvCxnSpPr>
        <p:spPr>
          <a:xfrm>
            <a:off x="7528560" y="3580604"/>
            <a:ext cx="1133936" cy="305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E1DA437-CF0F-651B-A39C-61D7ADBB2671}"/>
              </a:ext>
            </a:extLst>
          </p:cNvPr>
          <p:cNvCxnSpPr>
            <a:stCxn id="12" idx="3"/>
            <a:endCxn id="15" idx="1"/>
          </p:cNvCxnSpPr>
          <p:nvPr/>
        </p:nvCxnSpPr>
        <p:spPr>
          <a:xfrm>
            <a:off x="7528560" y="3580604"/>
            <a:ext cx="1133937" cy="1178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1589ED6-C360-CDA7-E262-D0B3970B78E9}"/>
              </a:ext>
            </a:extLst>
          </p:cNvPr>
          <p:cNvCxnSpPr>
            <a:stCxn id="11" idx="3"/>
            <a:endCxn id="13" idx="3"/>
          </p:cNvCxnSpPr>
          <p:nvPr/>
        </p:nvCxnSpPr>
        <p:spPr>
          <a:xfrm flipV="1">
            <a:off x="7538720" y="2418682"/>
            <a:ext cx="1110008" cy="16870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FBCAD5A-27DD-C662-36FF-FAF6F4D0EF6D}"/>
              </a:ext>
            </a:extLst>
          </p:cNvPr>
          <p:cNvCxnSpPr>
            <a:stCxn id="11" idx="3"/>
            <a:endCxn id="14" idx="2"/>
          </p:cNvCxnSpPr>
          <p:nvPr/>
        </p:nvCxnSpPr>
        <p:spPr>
          <a:xfrm flipV="1">
            <a:off x="7538720" y="3177461"/>
            <a:ext cx="1071880" cy="928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FD613D2-8C2B-5A0D-4EFF-2140428D2E03}"/>
              </a:ext>
            </a:extLst>
          </p:cNvPr>
          <p:cNvCxnSpPr>
            <a:stCxn id="11" idx="3"/>
            <a:endCxn id="16" idx="2"/>
          </p:cNvCxnSpPr>
          <p:nvPr/>
        </p:nvCxnSpPr>
        <p:spPr>
          <a:xfrm flipV="1">
            <a:off x="7538720" y="3977060"/>
            <a:ext cx="1084905" cy="128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33FBED9-0D96-BEBE-5DC1-5AAA0B4E8667}"/>
              </a:ext>
            </a:extLst>
          </p:cNvPr>
          <p:cNvCxnSpPr>
            <a:stCxn id="11" idx="3"/>
            <a:endCxn id="15" idx="1"/>
          </p:cNvCxnSpPr>
          <p:nvPr/>
        </p:nvCxnSpPr>
        <p:spPr>
          <a:xfrm>
            <a:off x="7538720" y="4105683"/>
            <a:ext cx="1123777" cy="653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F8C53AE-97FA-78B9-3E0E-DFE8BCE6D746}"/>
              </a:ext>
            </a:extLst>
          </p:cNvPr>
          <p:cNvCxnSpPr>
            <a:stCxn id="13" idx="5"/>
            <a:endCxn id="13" idx="5"/>
          </p:cNvCxnSpPr>
          <p:nvPr/>
        </p:nvCxnSpPr>
        <p:spPr>
          <a:xfrm>
            <a:off x="8832823" y="2418682"/>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31BD0C7-554C-2876-4FC4-51DA48B480C0}"/>
              </a:ext>
            </a:extLst>
          </p:cNvPr>
          <p:cNvCxnSpPr>
            <a:stCxn id="13" idx="5"/>
            <a:endCxn id="19" idx="1"/>
          </p:cNvCxnSpPr>
          <p:nvPr/>
        </p:nvCxnSpPr>
        <p:spPr>
          <a:xfrm>
            <a:off x="8832823" y="2418682"/>
            <a:ext cx="1185108" cy="543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72" name="Straight Arrow Connector 3071">
            <a:extLst>
              <a:ext uri="{FF2B5EF4-FFF2-40B4-BE49-F238E27FC236}">
                <a16:creationId xmlns:a16="http://schemas.microsoft.com/office/drawing/2014/main" id="{BC9047FC-162A-2BA3-707A-3EB972F8335B}"/>
              </a:ext>
            </a:extLst>
          </p:cNvPr>
          <p:cNvCxnSpPr>
            <a:stCxn id="13" idx="5"/>
            <a:endCxn id="18" idx="1"/>
          </p:cNvCxnSpPr>
          <p:nvPr/>
        </p:nvCxnSpPr>
        <p:spPr>
          <a:xfrm>
            <a:off x="8832823" y="2418682"/>
            <a:ext cx="1185934" cy="1146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75" name="Straight Arrow Connector 3074">
            <a:extLst>
              <a:ext uri="{FF2B5EF4-FFF2-40B4-BE49-F238E27FC236}">
                <a16:creationId xmlns:a16="http://schemas.microsoft.com/office/drawing/2014/main" id="{44D102E6-A91D-4989-8931-8CA971CB985F}"/>
              </a:ext>
            </a:extLst>
          </p:cNvPr>
          <p:cNvCxnSpPr>
            <a:stCxn id="13" idx="5"/>
            <a:endCxn id="17" idx="1"/>
          </p:cNvCxnSpPr>
          <p:nvPr/>
        </p:nvCxnSpPr>
        <p:spPr>
          <a:xfrm>
            <a:off x="8832823" y="2418682"/>
            <a:ext cx="1209040" cy="1715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77" name="Straight Arrow Connector 3076">
            <a:extLst>
              <a:ext uri="{FF2B5EF4-FFF2-40B4-BE49-F238E27FC236}">
                <a16:creationId xmlns:a16="http://schemas.microsoft.com/office/drawing/2014/main" id="{B31197AE-6F35-8FAF-87C2-F654BA908307}"/>
              </a:ext>
            </a:extLst>
          </p:cNvPr>
          <p:cNvCxnSpPr>
            <a:stCxn id="13" idx="5"/>
            <a:endCxn id="9" idx="1"/>
          </p:cNvCxnSpPr>
          <p:nvPr/>
        </p:nvCxnSpPr>
        <p:spPr>
          <a:xfrm>
            <a:off x="8832823" y="2418682"/>
            <a:ext cx="1215117" cy="2251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79" name="Straight Arrow Connector 3078">
            <a:extLst>
              <a:ext uri="{FF2B5EF4-FFF2-40B4-BE49-F238E27FC236}">
                <a16:creationId xmlns:a16="http://schemas.microsoft.com/office/drawing/2014/main" id="{40044724-E5EC-A9C0-0230-20CC7A9BF346}"/>
              </a:ext>
            </a:extLst>
          </p:cNvPr>
          <p:cNvCxnSpPr>
            <a:stCxn id="14" idx="6"/>
            <a:endCxn id="19" idx="1"/>
          </p:cNvCxnSpPr>
          <p:nvPr/>
        </p:nvCxnSpPr>
        <p:spPr>
          <a:xfrm flipV="1">
            <a:off x="8876030" y="2961738"/>
            <a:ext cx="1141901" cy="215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81" name="Straight Arrow Connector 3080">
            <a:extLst>
              <a:ext uri="{FF2B5EF4-FFF2-40B4-BE49-F238E27FC236}">
                <a16:creationId xmlns:a16="http://schemas.microsoft.com/office/drawing/2014/main" id="{CDDF844D-FEB0-7FA2-1DED-DCA48FA988F4}"/>
              </a:ext>
            </a:extLst>
          </p:cNvPr>
          <p:cNvCxnSpPr>
            <a:stCxn id="14" idx="6"/>
            <a:endCxn id="18" idx="1"/>
          </p:cNvCxnSpPr>
          <p:nvPr/>
        </p:nvCxnSpPr>
        <p:spPr>
          <a:xfrm>
            <a:off x="8876030" y="3177461"/>
            <a:ext cx="1142727" cy="387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83" name="Straight Arrow Connector 3082">
            <a:extLst>
              <a:ext uri="{FF2B5EF4-FFF2-40B4-BE49-F238E27FC236}">
                <a16:creationId xmlns:a16="http://schemas.microsoft.com/office/drawing/2014/main" id="{EF2FD3DD-B952-4BFD-23EC-CFEA5B6AF2CF}"/>
              </a:ext>
            </a:extLst>
          </p:cNvPr>
          <p:cNvCxnSpPr>
            <a:cxnSpLocks/>
            <a:stCxn id="14" idx="6"/>
            <a:endCxn id="17" idx="1"/>
          </p:cNvCxnSpPr>
          <p:nvPr/>
        </p:nvCxnSpPr>
        <p:spPr>
          <a:xfrm>
            <a:off x="8876030" y="3177461"/>
            <a:ext cx="1165833" cy="9569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86" name="Straight Arrow Connector 3085">
            <a:extLst>
              <a:ext uri="{FF2B5EF4-FFF2-40B4-BE49-F238E27FC236}">
                <a16:creationId xmlns:a16="http://schemas.microsoft.com/office/drawing/2014/main" id="{D67F5CEB-4F16-047A-B343-D8786263ABAC}"/>
              </a:ext>
            </a:extLst>
          </p:cNvPr>
          <p:cNvCxnSpPr>
            <a:cxnSpLocks/>
            <a:stCxn id="14" idx="6"/>
            <a:endCxn id="9" idx="1"/>
          </p:cNvCxnSpPr>
          <p:nvPr/>
        </p:nvCxnSpPr>
        <p:spPr>
          <a:xfrm>
            <a:off x="8876030" y="3177461"/>
            <a:ext cx="1171910" cy="1493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90" name="Straight Arrow Connector 3089">
            <a:extLst>
              <a:ext uri="{FF2B5EF4-FFF2-40B4-BE49-F238E27FC236}">
                <a16:creationId xmlns:a16="http://schemas.microsoft.com/office/drawing/2014/main" id="{967E1DC2-152B-2CAF-30EA-53591CFE809A}"/>
              </a:ext>
            </a:extLst>
          </p:cNvPr>
          <p:cNvCxnSpPr>
            <a:stCxn id="16" idx="6"/>
            <a:endCxn id="19" idx="1"/>
          </p:cNvCxnSpPr>
          <p:nvPr/>
        </p:nvCxnSpPr>
        <p:spPr>
          <a:xfrm flipV="1">
            <a:off x="8889055" y="2961738"/>
            <a:ext cx="1128876" cy="1015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92" name="Straight Arrow Connector 3091">
            <a:extLst>
              <a:ext uri="{FF2B5EF4-FFF2-40B4-BE49-F238E27FC236}">
                <a16:creationId xmlns:a16="http://schemas.microsoft.com/office/drawing/2014/main" id="{A90349D8-2DA7-0505-5D88-B205D9213BCE}"/>
              </a:ext>
            </a:extLst>
          </p:cNvPr>
          <p:cNvCxnSpPr>
            <a:stCxn id="16" idx="6"/>
            <a:endCxn id="18" idx="1"/>
          </p:cNvCxnSpPr>
          <p:nvPr/>
        </p:nvCxnSpPr>
        <p:spPr>
          <a:xfrm flipV="1">
            <a:off x="8889055" y="3565227"/>
            <a:ext cx="1129702" cy="411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94" name="Straight Arrow Connector 3093">
            <a:extLst>
              <a:ext uri="{FF2B5EF4-FFF2-40B4-BE49-F238E27FC236}">
                <a16:creationId xmlns:a16="http://schemas.microsoft.com/office/drawing/2014/main" id="{5A5D5B12-951A-DC59-D479-23E83E27422E}"/>
              </a:ext>
            </a:extLst>
          </p:cNvPr>
          <p:cNvCxnSpPr>
            <a:stCxn id="16" idx="6"/>
            <a:endCxn id="17" idx="1"/>
          </p:cNvCxnSpPr>
          <p:nvPr/>
        </p:nvCxnSpPr>
        <p:spPr>
          <a:xfrm>
            <a:off x="8889055" y="3977060"/>
            <a:ext cx="1152808" cy="15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96" name="Straight Arrow Connector 3095">
            <a:extLst>
              <a:ext uri="{FF2B5EF4-FFF2-40B4-BE49-F238E27FC236}">
                <a16:creationId xmlns:a16="http://schemas.microsoft.com/office/drawing/2014/main" id="{B0907FD6-42A1-793A-543F-5F05AA93C862}"/>
              </a:ext>
            </a:extLst>
          </p:cNvPr>
          <p:cNvCxnSpPr>
            <a:stCxn id="16" idx="6"/>
            <a:endCxn id="9" idx="1"/>
          </p:cNvCxnSpPr>
          <p:nvPr/>
        </p:nvCxnSpPr>
        <p:spPr>
          <a:xfrm>
            <a:off x="8889055" y="3977060"/>
            <a:ext cx="1158885" cy="6935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98" name="Straight Arrow Connector 3097">
            <a:extLst>
              <a:ext uri="{FF2B5EF4-FFF2-40B4-BE49-F238E27FC236}">
                <a16:creationId xmlns:a16="http://schemas.microsoft.com/office/drawing/2014/main" id="{CD9D98AA-8366-4400-053E-8AD41042D00F}"/>
              </a:ext>
            </a:extLst>
          </p:cNvPr>
          <p:cNvCxnSpPr>
            <a:stCxn id="15" idx="7"/>
            <a:endCxn id="19" idx="1"/>
          </p:cNvCxnSpPr>
          <p:nvPr/>
        </p:nvCxnSpPr>
        <p:spPr>
          <a:xfrm flipV="1">
            <a:off x="8850184" y="2961738"/>
            <a:ext cx="1167747" cy="1797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00" name="Straight Arrow Connector 3099">
            <a:extLst>
              <a:ext uri="{FF2B5EF4-FFF2-40B4-BE49-F238E27FC236}">
                <a16:creationId xmlns:a16="http://schemas.microsoft.com/office/drawing/2014/main" id="{CA1DE679-F59E-643D-B7DE-94ECA69C8A46}"/>
              </a:ext>
            </a:extLst>
          </p:cNvPr>
          <p:cNvCxnSpPr>
            <a:stCxn id="15" idx="7"/>
            <a:endCxn id="18" idx="1"/>
          </p:cNvCxnSpPr>
          <p:nvPr/>
        </p:nvCxnSpPr>
        <p:spPr>
          <a:xfrm flipV="1">
            <a:off x="8850184" y="3565227"/>
            <a:ext cx="1168573" cy="1193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02" name="Straight Arrow Connector 3101">
            <a:extLst>
              <a:ext uri="{FF2B5EF4-FFF2-40B4-BE49-F238E27FC236}">
                <a16:creationId xmlns:a16="http://schemas.microsoft.com/office/drawing/2014/main" id="{35C023A1-6AAB-CD1E-9FC3-4D526F2D07ED}"/>
              </a:ext>
            </a:extLst>
          </p:cNvPr>
          <p:cNvCxnSpPr>
            <a:stCxn id="15" idx="7"/>
            <a:endCxn id="17" idx="1"/>
          </p:cNvCxnSpPr>
          <p:nvPr/>
        </p:nvCxnSpPr>
        <p:spPr>
          <a:xfrm flipV="1">
            <a:off x="8850184" y="4134415"/>
            <a:ext cx="1191679" cy="6246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06" name="Straight Arrow Connector 3105">
            <a:extLst>
              <a:ext uri="{FF2B5EF4-FFF2-40B4-BE49-F238E27FC236}">
                <a16:creationId xmlns:a16="http://schemas.microsoft.com/office/drawing/2014/main" id="{2EF6F6CF-4952-DE33-48EB-04BF82D49B94}"/>
              </a:ext>
            </a:extLst>
          </p:cNvPr>
          <p:cNvCxnSpPr>
            <a:stCxn id="15" idx="7"/>
            <a:endCxn id="9" idx="1"/>
          </p:cNvCxnSpPr>
          <p:nvPr/>
        </p:nvCxnSpPr>
        <p:spPr>
          <a:xfrm flipV="1">
            <a:off x="8850184" y="4670596"/>
            <a:ext cx="1197756" cy="88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31" name="Straight Arrow Connector 3130">
            <a:extLst>
              <a:ext uri="{FF2B5EF4-FFF2-40B4-BE49-F238E27FC236}">
                <a16:creationId xmlns:a16="http://schemas.microsoft.com/office/drawing/2014/main" id="{E2D2831B-F192-DA18-F7C7-23AE481FE624}"/>
              </a:ext>
            </a:extLst>
          </p:cNvPr>
          <p:cNvCxnSpPr>
            <a:stCxn id="19" idx="3"/>
          </p:cNvCxnSpPr>
          <p:nvPr/>
        </p:nvCxnSpPr>
        <p:spPr>
          <a:xfrm flipV="1">
            <a:off x="10266930" y="2961737"/>
            <a:ext cx="63475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37" name="Straight Arrow Connector 3136">
            <a:extLst>
              <a:ext uri="{FF2B5EF4-FFF2-40B4-BE49-F238E27FC236}">
                <a16:creationId xmlns:a16="http://schemas.microsoft.com/office/drawing/2014/main" id="{FE12C43C-85CB-9C93-403F-2EE21888BF04}"/>
              </a:ext>
            </a:extLst>
          </p:cNvPr>
          <p:cNvCxnSpPr>
            <a:stCxn id="18" idx="3"/>
          </p:cNvCxnSpPr>
          <p:nvPr/>
        </p:nvCxnSpPr>
        <p:spPr>
          <a:xfrm flipV="1">
            <a:off x="10267756" y="3552499"/>
            <a:ext cx="633924" cy="127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39" name="Straight Arrow Connector 3138">
            <a:extLst>
              <a:ext uri="{FF2B5EF4-FFF2-40B4-BE49-F238E27FC236}">
                <a16:creationId xmlns:a16="http://schemas.microsoft.com/office/drawing/2014/main" id="{8CBD66AA-BB1F-E4CD-E0C6-83DE2EAF2883}"/>
              </a:ext>
            </a:extLst>
          </p:cNvPr>
          <p:cNvCxnSpPr>
            <a:stCxn id="17" idx="3"/>
          </p:cNvCxnSpPr>
          <p:nvPr/>
        </p:nvCxnSpPr>
        <p:spPr>
          <a:xfrm flipV="1">
            <a:off x="10290862" y="4134414"/>
            <a:ext cx="61081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41" name="Straight Arrow Connector 3140">
            <a:extLst>
              <a:ext uri="{FF2B5EF4-FFF2-40B4-BE49-F238E27FC236}">
                <a16:creationId xmlns:a16="http://schemas.microsoft.com/office/drawing/2014/main" id="{94618CFA-6E1C-F83F-3E41-F3DA5B494A30}"/>
              </a:ext>
            </a:extLst>
          </p:cNvPr>
          <p:cNvCxnSpPr>
            <a:stCxn id="9" idx="3"/>
          </p:cNvCxnSpPr>
          <p:nvPr/>
        </p:nvCxnSpPr>
        <p:spPr>
          <a:xfrm flipV="1">
            <a:off x="10296939" y="4659044"/>
            <a:ext cx="68602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49" name="Straight Arrow Connector 3148">
            <a:extLst>
              <a:ext uri="{FF2B5EF4-FFF2-40B4-BE49-F238E27FC236}">
                <a16:creationId xmlns:a16="http://schemas.microsoft.com/office/drawing/2014/main" id="{4FD13C6A-17B7-EC59-4B8C-A9CB12190A22}"/>
              </a:ext>
            </a:extLst>
          </p:cNvPr>
          <p:cNvCxnSpPr>
            <a:endCxn id="11" idx="1"/>
          </p:cNvCxnSpPr>
          <p:nvPr/>
        </p:nvCxnSpPr>
        <p:spPr>
          <a:xfrm>
            <a:off x="6797040" y="4105683"/>
            <a:ext cx="4762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51" name="Straight Arrow Connector 3150">
            <a:extLst>
              <a:ext uri="{FF2B5EF4-FFF2-40B4-BE49-F238E27FC236}">
                <a16:creationId xmlns:a16="http://schemas.microsoft.com/office/drawing/2014/main" id="{FBFB8629-B7C7-3D0B-62E8-1008E04BB8A2}"/>
              </a:ext>
            </a:extLst>
          </p:cNvPr>
          <p:cNvCxnSpPr>
            <a:endCxn id="10" idx="1"/>
          </p:cNvCxnSpPr>
          <p:nvPr/>
        </p:nvCxnSpPr>
        <p:spPr>
          <a:xfrm flipV="1">
            <a:off x="6797040" y="3019911"/>
            <a:ext cx="432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53" name="Straight Arrow Connector 3152">
            <a:extLst>
              <a:ext uri="{FF2B5EF4-FFF2-40B4-BE49-F238E27FC236}">
                <a16:creationId xmlns:a16="http://schemas.microsoft.com/office/drawing/2014/main" id="{7D17F798-6A9C-0DB4-DD78-DA6C020F94D6}"/>
              </a:ext>
            </a:extLst>
          </p:cNvPr>
          <p:cNvCxnSpPr>
            <a:endCxn id="12" idx="1"/>
          </p:cNvCxnSpPr>
          <p:nvPr/>
        </p:nvCxnSpPr>
        <p:spPr>
          <a:xfrm>
            <a:off x="6797040" y="3580603"/>
            <a:ext cx="46609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55" name="TextBox 3154">
            <a:extLst>
              <a:ext uri="{FF2B5EF4-FFF2-40B4-BE49-F238E27FC236}">
                <a16:creationId xmlns:a16="http://schemas.microsoft.com/office/drawing/2014/main" id="{0D171ADF-808F-DDB3-474D-998382E5F5B7}"/>
              </a:ext>
            </a:extLst>
          </p:cNvPr>
          <p:cNvSpPr txBox="1"/>
          <p:nvPr/>
        </p:nvSpPr>
        <p:spPr>
          <a:xfrm>
            <a:off x="6768617" y="2711019"/>
            <a:ext cx="449853" cy="307777"/>
          </a:xfrm>
          <a:prstGeom prst="rect">
            <a:avLst/>
          </a:prstGeom>
          <a:noFill/>
        </p:spPr>
        <p:txBody>
          <a:bodyPr wrap="square" rtlCol="0">
            <a:spAutoFit/>
          </a:bodyPr>
          <a:lstStyle/>
          <a:p>
            <a:r>
              <a:rPr lang="en-US" sz="1400" dirty="0"/>
              <a:t>X1</a:t>
            </a:r>
            <a:endParaRPr lang="en-IN" sz="1400" dirty="0"/>
          </a:p>
        </p:txBody>
      </p:sp>
      <p:sp>
        <p:nvSpPr>
          <p:cNvPr id="3156" name="TextBox 3155">
            <a:extLst>
              <a:ext uri="{FF2B5EF4-FFF2-40B4-BE49-F238E27FC236}">
                <a16:creationId xmlns:a16="http://schemas.microsoft.com/office/drawing/2014/main" id="{3913B7ED-2A7C-432C-00FC-70EFC0F99D7B}"/>
              </a:ext>
            </a:extLst>
          </p:cNvPr>
          <p:cNvSpPr txBox="1"/>
          <p:nvPr/>
        </p:nvSpPr>
        <p:spPr>
          <a:xfrm>
            <a:off x="6788113" y="3282941"/>
            <a:ext cx="449853" cy="307777"/>
          </a:xfrm>
          <a:prstGeom prst="rect">
            <a:avLst/>
          </a:prstGeom>
          <a:noFill/>
        </p:spPr>
        <p:txBody>
          <a:bodyPr wrap="square" rtlCol="0">
            <a:spAutoFit/>
          </a:bodyPr>
          <a:lstStyle/>
          <a:p>
            <a:r>
              <a:rPr lang="en-US" sz="1400" dirty="0"/>
              <a:t>X2</a:t>
            </a:r>
            <a:endParaRPr lang="en-IN" sz="1400" dirty="0"/>
          </a:p>
        </p:txBody>
      </p:sp>
      <p:sp>
        <p:nvSpPr>
          <p:cNvPr id="3157" name="TextBox 3156">
            <a:extLst>
              <a:ext uri="{FF2B5EF4-FFF2-40B4-BE49-F238E27FC236}">
                <a16:creationId xmlns:a16="http://schemas.microsoft.com/office/drawing/2014/main" id="{9C61DD34-3467-21A0-3C7A-436BB18FAA51}"/>
              </a:ext>
            </a:extLst>
          </p:cNvPr>
          <p:cNvSpPr txBox="1"/>
          <p:nvPr/>
        </p:nvSpPr>
        <p:spPr>
          <a:xfrm>
            <a:off x="6767791" y="4663755"/>
            <a:ext cx="478276" cy="307777"/>
          </a:xfrm>
          <a:prstGeom prst="rect">
            <a:avLst/>
          </a:prstGeom>
          <a:noFill/>
        </p:spPr>
        <p:txBody>
          <a:bodyPr wrap="square" rtlCol="0">
            <a:spAutoFit/>
          </a:bodyPr>
          <a:lstStyle/>
          <a:p>
            <a:r>
              <a:rPr lang="en-US" sz="1400" dirty="0"/>
              <a:t>Xn</a:t>
            </a:r>
            <a:endParaRPr lang="en-IN" sz="1400" dirty="0"/>
          </a:p>
        </p:txBody>
      </p:sp>
      <p:sp>
        <p:nvSpPr>
          <p:cNvPr id="3158" name="TextBox 3157">
            <a:extLst>
              <a:ext uri="{FF2B5EF4-FFF2-40B4-BE49-F238E27FC236}">
                <a16:creationId xmlns:a16="http://schemas.microsoft.com/office/drawing/2014/main" id="{FE443EBC-4D7D-6E39-371E-F8B0F339E5D9}"/>
              </a:ext>
            </a:extLst>
          </p:cNvPr>
          <p:cNvSpPr txBox="1"/>
          <p:nvPr/>
        </p:nvSpPr>
        <p:spPr>
          <a:xfrm>
            <a:off x="6778777" y="3837611"/>
            <a:ext cx="449853" cy="307777"/>
          </a:xfrm>
          <a:prstGeom prst="rect">
            <a:avLst/>
          </a:prstGeom>
          <a:noFill/>
        </p:spPr>
        <p:txBody>
          <a:bodyPr wrap="square" rtlCol="0">
            <a:spAutoFit/>
          </a:bodyPr>
          <a:lstStyle/>
          <a:p>
            <a:r>
              <a:rPr lang="en-US" sz="1400" dirty="0"/>
              <a:t>X3</a:t>
            </a:r>
            <a:endParaRPr lang="en-IN" sz="1400" dirty="0"/>
          </a:p>
        </p:txBody>
      </p:sp>
      <p:sp>
        <p:nvSpPr>
          <p:cNvPr id="3167" name="Rectangle: Rounded Corners 3166">
            <a:extLst>
              <a:ext uri="{FF2B5EF4-FFF2-40B4-BE49-F238E27FC236}">
                <a16:creationId xmlns:a16="http://schemas.microsoft.com/office/drawing/2014/main" id="{36452EB7-18F9-D67B-E5F8-C1AD1D883635}"/>
              </a:ext>
            </a:extLst>
          </p:cNvPr>
          <p:cNvSpPr/>
          <p:nvPr/>
        </p:nvSpPr>
        <p:spPr>
          <a:xfrm>
            <a:off x="7298055" y="4817644"/>
            <a:ext cx="265430" cy="241754"/>
          </a:xfrm>
          <a:prstGeom prst="roundRect">
            <a:avLst/>
          </a:prstGeom>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3169" name="Straight Arrow Connector 3168">
            <a:extLst>
              <a:ext uri="{FF2B5EF4-FFF2-40B4-BE49-F238E27FC236}">
                <a16:creationId xmlns:a16="http://schemas.microsoft.com/office/drawing/2014/main" id="{C4D9C49D-815F-E64C-A4CF-F4EE57AD4A93}"/>
              </a:ext>
            </a:extLst>
          </p:cNvPr>
          <p:cNvCxnSpPr>
            <a:endCxn id="3167" idx="1"/>
          </p:cNvCxnSpPr>
          <p:nvPr/>
        </p:nvCxnSpPr>
        <p:spPr>
          <a:xfrm flipV="1">
            <a:off x="6768617" y="4938521"/>
            <a:ext cx="504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71" name="Straight Arrow Connector 3170">
            <a:extLst>
              <a:ext uri="{FF2B5EF4-FFF2-40B4-BE49-F238E27FC236}">
                <a16:creationId xmlns:a16="http://schemas.microsoft.com/office/drawing/2014/main" id="{AD49B5F2-0FAD-1AF0-FEA8-7D44E060AB1F}"/>
              </a:ext>
            </a:extLst>
          </p:cNvPr>
          <p:cNvCxnSpPr>
            <a:stCxn id="3167" idx="3"/>
            <a:endCxn id="13" idx="3"/>
          </p:cNvCxnSpPr>
          <p:nvPr/>
        </p:nvCxnSpPr>
        <p:spPr>
          <a:xfrm flipV="1">
            <a:off x="7563485" y="2418682"/>
            <a:ext cx="1085243" cy="2519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73" name="Straight Arrow Connector 3172">
            <a:extLst>
              <a:ext uri="{FF2B5EF4-FFF2-40B4-BE49-F238E27FC236}">
                <a16:creationId xmlns:a16="http://schemas.microsoft.com/office/drawing/2014/main" id="{1D4CEF90-D470-E051-14D9-02A5C62A553B}"/>
              </a:ext>
            </a:extLst>
          </p:cNvPr>
          <p:cNvCxnSpPr>
            <a:stCxn id="3167" idx="3"/>
          </p:cNvCxnSpPr>
          <p:nvPr/>
        </p:nvCxnSpPr>
        <p:spPr>
          <a:xfrm flipV="1">
            <a:off x="7563485" y="3262182"/>
            <a:ext cx="1020339" cy="1676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75" name="Straight Arrow Connector 3174">
            <a:extLst>
              <a:ext uri="{FF2B5EF4-FFF2-40B4-BE49-F238E27FC236}">
                <a16:creationId xmlns:a16="http://schemas.microsoft.com/office/drawing/2014/main" id="{0AAA7B9C-E4DB-C725-3DA4-574F2B1267D9}"/>
              </a:ext>
            </a:extLst>
          </p:cNvPr>
          <p:cNvCxnSpPr>
            <a:stCxn id="3167" idx="3"/>
            <a:endCxn id="16" idx="2"/>
          </p:cNvCxnSpPr>
          <p:nvPr/>
        </p:nvCxnSpPr>
        <p:spPr>
          <a:xfrm flipV="1">
            <a:off x="7563485" y="3977060"/>
            <a:ext cx="1060140" cy="961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77" name="Straight Arrow Connector 3176">
            <a:extLst>
              <a:ext uri="{FF2B5EF4-FFF2-40B4-BE49-F238E27FC236}">
                <a16:creationId xmlns:a16="http://schemas.microsoft.com/office/drawing/2014/main" id="{501ADB92-0168-8A50-0748-2994C94A5C74}"/>
              </a:ext>
            </a:extLst>
          </p:cNvPr>
          <p:cNvCxnSpPr>
            <a:stCxn id="3167" idx="3"/>
            <a:endCxn id="15" idx="1"/>
          </p:cNvCxnSpPr>
          <p:nvPr/>
        </p:nvCxnSpPr>
        <p:spPr>
          <a:xfrm flipV="1">
            <a:off x="7563485" y="4759112"/>
            <a:ext cx="1099012" cy="179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79" name="TextBox 3178">
            <a:extLst>
              <a:ext uri="{FF2B5EF4-FFF2-40B4-BE49-F238E27FC236}">
                <a16:creationId xmlns:a16="http://schemas.microsoft.com/office/drawing/2014/main" id="{4656329E-DBA0-F368-01BA-68301D5621ED}"/>
              </a:ext>
            </a:extLst>
          </p:cNvPr>
          <p:cNvSpPr txBox="1"/>
          <p:nvPr/>
        </p:nvSpPr>
        <p:spPr>
          <a:xfrm>
            <a:off x="7264400" y="3828803"/>
            <a:ext cx="284480" cy="769441"/>
          </a:xfrm>
          <a:prstGeom prst="rect">
            <a:avLst/>
          </a:prstGeom>
          <a:noFill/>
        </p:spPr>
        <p:txBody>
          <a:bodyPr wrap="square" rtlCol="0">
            <a:spAutoFit/>
          </a:bodyPr>
          <a:lstStyle/>
          <a:p>
            <a:r>
              <a:rPr lang="en-US" sz="4400" dirty="0"/>
              <a:t>.</a:t>
            </a:r>
            <a:endParaRPr lang="en-IN" sz="4400" dirty="0"/>
          </a:p>
        </p:txBody>
      </p:sp>
      <p:sp>
        <p:nvSpPr>
          <p:cNvPr id="3180" name="TextBox 3179">
            <a:extLst>
              <a:ext uri="{FF2B5EF4-FFF2-40B4-BE49-F238E27FC236}">
                <a16:creationId xmlns:a16="http://schemas.microsoft.com/office/drawing/2014/main" id="{18281EC8-ABD9-6B50-5FDD-AACE615FA389}"/>
              </a:ext>
            </a:extLst>
          </p:cNvPr>
          <p:cNvSpPr txBox="1"/>
          <p:nvPr/>
        </p:nvSpPr>
        <p:spPr>
          <a:xfrm>
            <a:off x="7264330" y="3991499"/>
            <a:ext cx="284480" cy="769441"/>
          </a:xfrm>
          <a:prstGeom prst="rect">
            <a:avLst/>
          </a:prstGeom>
          <a:noFill/>
        </p:spPr>
        <p:txBody>
          <a:bodyPr wrap="square" rtlCol="0">
            <a:spAutoFit/>
          </a:bodyPr>
          <a:lstStyle/>
          <a:p>
            <a:r>
              <a:rPr lang="en-US" sz="4400" dirty="0"/>
              <a:t>.</a:t>
            </a:r>
            <a:endParaRPr lang="en-IN" sz="4400" dirty="0"/>
          </a:p>
        </p:txBody>
      </p:sp>
      <p:sp>
        <p:nvSpPr>
          <p:cNvPr id="3182" name="TextBox 3181">
            <a:extLst>
              <a:ext uri="{FF2B5EF4-FFF2-40B4-BE49-F238E27FC236}">
                <a16:creationId xmlns:a16="http://schemas.microsoft.com/office/drawing/2014/main" id="{D0871CEC-204C-DCFC-9D1E-607C11B00572}"/>
              </a:ext>
            </a:extLst>
          </p:cNvPr>
          <p:cNvSpPr txBox="1"/>
          <p:nvPr/>
        </p:nvSpPr>
        <p:spPr>
          <a:xfrm>
            <a:off x="10982960" y="2719296"/>
            <a:ext cx="6860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AF</a:t>
            </a:r>
            <a:endParaRPr lang="en-IN" dirty="0">
              <a:latin typeface="Times New Roman" panose="02020603050405020304" pitchFamily="18" charset="0"/>
              <a:cs typeface="Times New Roman" panose="02020603050405020304" pitchFamily="18" charset="0"/>
            </a:endParaRPr>
          </a:p>
        </p:txBody>
      </p:sp>
      <p:sp>
        <p:nvSpPr>
          <p:cNvPr id="3183" name="TextBox 3182">
            <a:extLst>
              <a:ext uri="{FF2B5EF4-FFF2-40B4-BE49-F238E27FC236}">
                <a16:creationId xmlns:a16="http://schemas.microsoft.com/office/drawing/2014/main" id="{4BC0D511-B13A-079B-9C74-7EEA0FECA174}"/>
              </a:ext>
            </a:extLst>
          </p:cNvPr>
          <p:cNvSpPr txBox="1"/>
          <p:nvPr/>
        </p:nvSpPr>
        <p:spPr>
          <a:xfrm>
            <a:off x="11010789" y="3369104"/>
            <a:ext cx="6860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NSR</a:t>
            </a:r>
            <a:endParaRPr lang="en-IN" dirty="0">
              <a:latin typeface="Times New Roman" panose="02020603050405020304" pitchFamily="18" charset="0"/>
              <a:cs typeface="Times New Roman" panose="02020603050405020304" pitchFamily="18" charset="0"/>
            </a:endParaRPr>
          </a:p>
        </p:txBody>
      </p:sp>
      <p:sp>
        <p:nvSpPr>
          <p:cNvPr id="3184" name="TextBox 3183">
            <a:extLst>
              <a:ext uri="{FF2B5EF4-FFF2-40B4-BE49-F238E27FC236}">
                <a16:creationId xmlns:a16="http://schemas.microsoft.com/office/drawing/2014/main" id="{CE4D2862-3D34-D68B-1798-68B71BDB74CC}"/>
              </a:ext>
            </a:extLst>
          </p:cNvPr>
          <p:cNvSpPr txBox="1"/>
          <p:nvPr/>
        </p:nvSpPr>
        <p:spPr>
          <a:xfrm>
            <a:off x="11083641" y="3954496"/>
            <a:ext cx="6860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AR</a:t>
            </a:r>
            <a:endParaRPr lang="en-IN" dirty="0">
              <a:latin typeface="Times New Roman" panose="02020603050405020304" pitchFamily="18" charset="0"/>
              <a:cs typeface="Times New Roman" panose="02020603050405020304" pitchFamily="18" charset="0"/>
            </a:endParaRPr>
          </a:p>
        </p:txBody>
      </p:sp>
      <p:sp>
        <p:nvSpPr>
          <p:cNvPr id="3185" name="TextBox 3184">
            <a:extLst>
              <a:ext uri="{FF2B5EF4-FFF2-40B4-BE49-F238E27FC236}">
                <a16:creationId xmlns:a16="http://schemas.microsoft.com/office/drawing/2014/main" id="{6840508C-2B72-5167-7623-20488FA225DC}"/>
              </a:ext>
            </a:extLst>
          </p:cNvPr>
          <p:cNvSpPr txBox="1"/>
          <p:nvPr/>
        </p:nvSpPr>
        <p:spPr>
          <a:xfrm>
            <a:off x="11010789" y="4500035"/>
            <a:ext cx="105664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NOISY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768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79B5D25-13FC-1006-5EE9-A53E17A0C28D}"/>
              </a:ext>
            </a:extLst>
          </p:cNvPr>
          <p:cNvCxnSpPr/>
          <p:nvPr/>
        </p:nvCxnSpPr>
        <p:spPr>
          <a:xfrm>
            <a:off x="-1" y="7111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B42D75-7CB5-1F69-5CD4-1BBCDF7A1D03}"/>
              </a:ext>
            </a:extLst>
          </p:cNvPr>
          <p:cNvCxnSpPr/>
          <p:nvPr/>
        </p:nvCxnSpPr>
        <p:spPr>
          <a:xfrm>
            <a:off x="0" y="678688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FC43255-862B-BFF0-129C-5E74ACC39B88}"/>
              </a:ext>
            </a:extLst>
          </p:cNvPr>
          <p:cNvSpPr>
            <a:spLocks noGrp="1"/>
          </p:cNvSpPr>
          <p:nvPr>
            <p:ph type="sldNum" sz="quarter" idx="12"/>
          </p:nvPr>
        </p:nvSpPr>
        <p:spPr/>
        <p:txBody>
          <a:bodyPr/>
          <a:lstStyle/>
          <a:p>
            <a:fld id="{6C5FC05A-C924-4EE5-A853-ADA77C45D7CF}" type="slidenum">
              <a:rPr lang="en-IN" sz="2000" smtClean="0">
                <a:solidFill>
                  <a:schemeClr val="tx1"/>
                </a:solidFill>
              </a:rPr>
              <a:t>14</a:t>
            </a:fld>
            <a:endParaRPr lang="en-IN" sz="2000" dirty="0">
              <a:solidFill>
                <a:schemeClr val="tx1"/>
              </a:solidFill>
            </a:endParaRPr>
          </a:p>
        </p:txBody>
      </p:sp>
      <p:graphicFrame>
        <p:nvGraphicFramePr>
          <p:cNvPr id="6" name="Table 5">
            <a:extLst>
              <a:ext uri="{FF2B5EF4-FFF2-40B4-BE49-F238E27FC236}">
                <a16:creationId xmlns:a16="http://schemas.microsoft.com/office/drawing/2014/main" id="{3A8F23A1-2F58-057D-DC8D-B056AFC57236}"/>
              </a:ext>
            </a:extLst>
          </p:cNvPr>
          <p:cNvGraphicFramePr>
            <a:graphicFrameLocks noGrp="1"/>
          </p:cNvGraphicFramePr>
          <p:nvPr>
            <p:extLst>
              <p:ext uri="{D42A27DB-BD31-4B8C-83A1-F6EECF244321}">
                <p14:modId xmlns:p14="http://schemas.microsoft.com/office/powerpoint/2010/main" val="3703016869"/>
              </p:ext>
            </p:extLst>
          </p:nvPr>
        </p:nvGraphicFramePr>
        <p:xfrm>
          <a:off x="1960880" y="2143762"/>
          <a:ext cx="7487920" cy="4226558"/>
        </p:xfrm>
        <a:graphic>
          <a:graphicData uri="http://schemas.openxmlformats.org/drawingml/2006/table">
            <a:tbl>
              <a:tblPr>
                <a:tableStyleId>{BDBED569-4797-4DF1-A0F4-6AAB3CD982D8}</a:tableStyleId>
              </a:tblPr>
              <a:tblGrid>
                <a:gridCol w="4012395">
                  <a:extLst>
                    <a:ext uri="{9D8B030D-6E8A-4147-A177-3AD203B41FA5}">
                      <a16:colId xmlns:a16="http://schemas.microsoft.com/office/drawing/2014/main" val="3561361951"/>
                    </a:ext>
                  </a:extLst>
                </a:gridCol>
                <a:gridCol w="3475525">
                  <a:extLst>
                    <a:ext uri="{9D8B030D-6E8A-4147-A177-3AD203B41FA5}">
                      <a16:colId xmlns:a16="http://schemas.microsoft.com/office/drawing/2014/main" val="2708118583"/>
                    </a:ext>
                  </a:extLst>
                </a:gridCol>
              </a:tblGrid>
              <a:tr h="541867">
                <a:tc>
                  <a:txBody>
                    <a:bodyPr/>
                    <a:lstStyle/>
                    <a:p>
                      <a:pPr algn="ctr" fontAlgn="b"/>
                      <a:r>
                        <a:rPr lang="en-IN" sz="2000" u="none" strike="noStrike" dirty="0">
                          <a:solidFill>
                            <a:schemeClr val="accent1">
                              <a:lumMod val="50000"/>
                            </a:schemeClr>
                          </a:solidFill>
                          <a:effectLst/>
                          <a:latin typeface="Times New Roman" panose="02020603050405020304" pitchFamily="18" charset="0"/>
                          <a:cs typeface="Times New Roman" panose="02020603050405020304" pitchFamily="18" charset="0"/>
                        </a:rPr>
                        <a:t>Parameters</a:t>
                      </a:r>
                      <a:endParaRPr lang="en-IN" sz="2000" b="1" i="0" u="none" strike="noStrike" dirty="0">
                        <a:solidFill>
                          <a:schemeClr val="accent1">
                            <a:lumMod val="50000"/>
                          </a:schemeClr>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dirty="0">
                          <a:solidFill>
                            <a:schemeClr val="accent1">
                              <a:lumMod val="50000"/>
                            </a:schemeClr>
                          </a:solidFill>
                          <a:effectLst/>
                          <a:latin typeface="Times New Roman" panose="02020603050405020304" pitchFamily="18" charset="0"/>
                          <a:cs typeface="Times New Roman" panose="02020603050405020304" pitchFamily="18" charset="0"/>
                        </a:rPr>
                        <a:t>Values</a:t>
                      </a:r>
                      <a:endParaRPr lang="en-IN" sz="2000" b="1" i="0" u="none" strike="noStrike" dirty="0">
                        <a:solidFill>
                          <a:schemeClr val="accent1">
                            <a:lumMod val="50000"/>
                          </a:schemeClr>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1650017347"/>
                  </a:ext>
                </a:extLst>
              </a:tr>
              <a:tr h="47413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No. of Convolutional layers</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dirty="0">
                          <a:effectLst/>
                          <a:latin typeface="Times New Roman" panose="02020603050405020304" pitchFamily="18" charset="0"/>
                          <a:cs typeface="Times New Roman" panose="02020603050405020304" pitchFamily="18" charset="0"/>
                        </a:rPr>
                        <a:t>3</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525883063"/>
                  </a:ext>
                </a:extLst>
              </a:tr>
              <a:tr h="460587">
                <a:tc>
                  <a:txBody>
                    <a:bodyPr/>
                    <a:lstStyle/>
                    <a:p>
                      <a:pPr algn="ctr" fontAlgn="b"/>
                      <a:r>
                        <a:rPr lang="en-IN" sz="2000" u="none" strike="noStrike" dirty="0">
                          <a:effectLst/>
                          <a:latin typeface="Times New Roman" panose="02020603050405020304" pitchFamily="18" charset="0"/>
                          <a:cs typeface="Times New Roman" panose="02020603050405020304" pitchFamily="18" charset="0"/>
                        </a:rPr>
                        <a:t>No. of Kernels </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a:effectLst/>
                          <a:latin typeface="Times New Roman" panose="02020603050405020304" pitchFamily="18" charset="0"/>
                          <a:cs typeface="Times New Roman" panose="02020603050405020304" pitchFamily="18" charset="0"/>
                        </a:rPr>
                        <a:t>32</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1991016851"/>
                  </a:ext>
                </a:extLst>
              </a:tr>
              <a:tr h="39285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Kernel size</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a:effectLst/>
                          <a:latin typeface="Times New Roman" panose="02020603050405020304" pitchFamily="18" charset="0"/>
                          <a:cs typeface="Times New Roman" panose="02020603050405020304" pitchFamily="18" charset="0"/>
                        </a:rPr>
                        <a:t>3×3</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1744291467"/>
                  </a:ext>
                </a:extLst>
              </a:tr>
              <a:tr h="39285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No. of pooling layers</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dirty="0">
                          <a:effectLst/>
                          <a:latin typeface="Times New Roman" panose="02020603050405020304" pitchFamily="18" charset="0"/>
                          <a:cs typeface="Times New Roman" panose="02020603050405020304" pitchFamily="18" charset="0"/>
                        </a:rPr>
                        <a:t>3</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2769751866"/>
                  </a:ext>
                </a:extLst>
              </a:tr>
              <a:tr h="39285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Kernel size</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dirty="0">
                          <a:effectLst/>
                          <a:latin typeface="Times New Roman" panose="02020603050405020304" pitchFamily="18" charset="0"/>
                          <a:cs typeface="Times New Roman" panose="02020603050405020304" pitchFamily="18" charset="0"/>
                        </a:rPr>
                        <a:t>2×2</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2385248049"/>
                  </a:ext>
                </a:extLst>
              </a:tr>
              <a:tr h="39285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Learning rate</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a:effectLst/>
                          <a:latin typeface="Times New Roman" panose="02020603050405020304" pitchFamily="18" charset="0"/>
                          <a:cs typeface="Times New Roman" panose="02020603050405020304" pitchFamily="18" charset="0"/>
                        </a:rPr>
                        <a:t>0.01</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4001416374"/>
                  </a:ext>
                </a:extLst>
              </a:tr>
              <a:tr h="39285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Dropout rate</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a:effectLst/>
                          <a:latin typeface="Times New Roman" panose="02020603050405020304" pitchFamily="18" charset="0"/>
                          <a:cs typeface="Times New Roman" panose="02020603050405020304" pitchFamily="18" charset="0"/>
                        </a:rPr>
                        <a:t>0.5</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2095977626"/>
                  </a:ext>
                </a:extLst>
              </a:tr>
              <a:tr h="39285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No. of epochs</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a:effectLst/>
                          <a:latin typeface="Times New Roman" panose="02020603050405020304" pitchFamily="18" charset="0"/>
                          <a:cs typeface="Times New Roman" panose="02020603050405020304" pitchFamily="18" charset="0"/>
                        </a:rPr>
                        <a:t>10</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2583088938"/>
                  </a:ext>
                </a:extLst>
              </a:tr>
              <a:tr h="392853">
                <a:tc>
                  <a:txBody>
                    <a:bodyPr/>
                    <a:lstStyle/>
                    <a:p>
                      <a:pPr algn="ctr" fontAlgn="b"/>
                      <a:r>
                        <a:rPr lang="en-IN" sz="2000" u="none" strike="noStrike">
                          <a:effectLst/>
                          <a:latin typeface="Times New Roman" panose="02020603050405020304" pitchFamily="18" charset="0"/>
                          <a:cs typeface="Times New Roman" panose="02020603050405020304" pitchFamily="18" charset="0"/>
                        </a:rPr>
                        <a:t>Batch size</a:t>
                      </a:r>
                      <a:endParaRPr lang="en-I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a:txBody>
                    <a:bodyPr/>
                    <a:lstStyle/>
                    <a:p>
                      <a:pPr algn="ctr" fontAlgn="b"/>
                      <a:r>
                        <a:rPr lang="en-IN" sz="2000" u="none" strike="noStrike" dirty="0">
                          <a:effectLst/>
                          <a:latin typeface="Times New Roman" panose="02020603050405020304" pitchFamily="18" charset="0"/>
                          <a:cs typeface="Times New Roman" panose="02020603050405020304" pitchFamily="18" charset="0"/>
                        </a:rPr>
                        <a:t>32</a:t>
                      </a:r>
                      <a:endParaRPr lang="en-I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3501997412"/>
                  </a:ext>
                </a:extLst>
              </a:tr>
            </a:tbl>
          </a:graphicData>
        </a:graphic>
      </p:graphicFrame>
      <p:sp>
        <p:nvSpPr>
          <p:cNvPr id="7" name="TextBox 6">
            <a:extLst>
              <a:ext uri="{FF2B5EF4-FFF2-40B4-BE49-F238E27FC236}">
                <a16:creationId xmlns:a16="http://schemas.microsoft.com/office/drawing/2014/main" id="{A03FFE52-E61F-9F50-23F0-20FFDBDF10DF}"/>
              </a:ext>
            </a:extLst>
          </p:cNvPr>
          <p:cNvSpPr txBox="1"/>
          <p:nvPr/>
        </p:nvSpPr>
        <p:spPr>
          <a:xfrm>
            <a:off x="2346960" y="1269387"/>
            <a:ext cx="7010400" cy="523220"/>
          </a:xfrm>
          <a:prstGeom prst="rect">
            <a:avLst/>
          </a:prstGeom>
          <a:noFill/>
        </p:spPr>
        <p:txBody>
          <a:bodyPr wrap="square" rtlCol="0">
            <a:spAutoFit/>
          </a:bodyPr>
          <a:lstStyle/>
          <a:p>
            <a:r>
              <a:rPr lang="en-US" sz="2800" dirty="0">
                <a:solidFill>
                  <a:schemeClr val="accent1">
                    <a:lumMod val="50000"/>
                  </a:schemeClr>
                </a:solidFill>
                <a:latin typeface="Times New Roman" panose="02020603050405020304" pitchFamily="18" charset="0"/>
                <a:cs typeface="Times New Roman" panose="02020603050405020304" pitchFamily="18" charset="0"/>
              </a:rPr>
              <a:t> TRAINING PARAMETERS AND VALUES</a:t>
            </a:r>
            <a:endParaRPr lang="en-IN" sz="2800"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8973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7B138-CCB3-D2C7-4873-7A3088BD7081}"/>
              </a:ext>
            </a:extLst>
          </p:cNvPr>
          <p:cNvSpPr>
            <a:spLocks noGrp="1"/>
          </p:cNvSpPr>
          <p:nvPr>
            <p:ph type="title"/>
          </p:nvPr>
        </p:nvSpPr>
        <p:spPr>
          <a:xfrm>
            <a:off x="838200" y="253365"/>
            <a:ext cx="10515600" cy="1325563"/>
          </a:xfrm>
        </p:spPr>
        <p:txBody>
          <a:bodyPr/>
          <a:lstStyle/>
          <a:p>
            <a:pPr algn="ctr"/>
            <a:r>
              <a:rPr lang="en-IN" sz="4400" dirty="0">
                <a:solidFill>
                  <a:schemeClr val="accent1">
                    <a:lumMod val="75000"/>
                  </a:schemeClr>
                </a:solidFill>
                <a:latin typeface="Times New Roman" panose="02020603050405020304" pitchFamily="18" charset="0"/>
                <a:cs typeface="Times New Roman" panose="02020603050405020304" pitchFamily="18" charset="0"/>
              </a:rPr>
              <a:t>TRAINING STRATEGY</a:t>
            </a:r>
            <a:endParaRPr lang="en-IN" dirty="0"/>
          </a:p>
        </p:txBody>
      </p:sp>
      <p:sp>
        <p:nvSpPr>
          <p:cNvPr id="3" name="Content Placeholder 2">
            <a:extLst>
              <a:ext uri="{FF2B5EF4-FFF2-40B4-BE49-F238E27FC236}">
                <a16:creationId xmlns:a16="http://schemas.microsoft.com/office/drawing/2014/main" id="{C4760B8A-DDFD-14BB-477A-5F95DFEC1FC5}"/>
              </a:ext>
            </a:extLst>
          </p:cNvPr>
          <p:cNvSpPr>
            <a:spLocks noGrp="1"/>
          </p:cNvSpPr>
          <p:nvPr>
            <p:ph sz="half" idx="1"/>
          </p:nvPr>
        </p:nvSpPr>
        <p:spPr>
          <a:xfrm>
            <a:off x="838200" y="1414146"/>
            <a:ext cx="5181600" cy="4351338"/>
          </a:xfrm>
        </p:spPr>
        <p:txBody>
          <a:bodyPr>
            <a:normAutofit fontScale="92500" lnSpcReduction="10000"/>
          </a:bodyPr>
          <a:lstStyle/>
          <a:p>
            <a:pPr marL="0" indent="0">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Adam optimization algorithm</a:t>
            </a: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Dropout layer and Batch normalization layer</a:t>
            </a: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Cross-entropy loss function</a:t>
            </a: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ReLU (Rectified Linear Unit) activation function</a:t>
            </a: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Training and test data in the ratio 70:30</a:t>
            </a: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Programming environment: MATLAB R2023a</a:t>
            </a: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Trained for 10 epochs with learning rate 0.01</a:t>
            </a:r>
          </a:p>
          <a:p>
            <a:pPr marL="0" indent="0">
              <a:buNone/>
            </a:pPr>
            <a:endParaRPr lang="en-IN" dirty="0"/>
          </a:p>
        </p:txBody>
      </p:sp>
      <p:pic>
        <p:nvPicPr>
          <p:cNvPr id="5" name="Content Placeholder 4">
            <a:extLst>
              <a:ext uri="{FF2B5EF4-FFF2-40B4-BE49-F238E27FC236}">
                <a16:creationId xmlns:a16="http://schemas.microsoft.com/office/drawing/2014/main" id="{39529273-2813-6090-AD04-F4AD46BD70F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26200" y="1817371"/>
            <a:ext cx="5334000" cy="3544888"/>
          </a:xfrm>
          <a:prstGeom prst="rect">
            <a:avLst/>
          </a:prstGeom>
          <a:noFill/>
        </p:spPr>
      </p:pic>
      <p:cxnSp>
        <p:nvCxnSpPr>
          <p:cNvPr id="6" name="Straight Connector 5">
            <a:extLst>
              <a:ext uri="{FF2B5EF4-FFF2-40B4-BE49-F238E27FC236}">
                <a16:creationId xmlns:a16="http://schemas.microsoft.com/office/drawing/2014/main" id="{A0B3D6C1-B053-6240-EA7C-491657DA6B8E}"/>
              </a:ext>
            </a:extLst>
          </p:cNvPr>
          <p:cNvCxnSpPr/>
          <p:nvPr/>
        </p:nvCxnSpPr>
        <p:spPr>
          <a:xfrm>
            <a:off x="0" y="678688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6981D30-1735-6303-A250-2996B8C37237}"/>
              </a:ext>
            </a:extLst>
          </p:cNvPr>
          <p:cNvCxnSpPr/>
          <p:nvPr/>
        </p:nvCxnSpPr>
        <p:spPr>
          <a:xfrm>
            <a:off x="0" y="812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1F36FC8-9C1E-43EF-EFD0-B83412337010}"/>
              </a:ext>
            </a:extLst>
          </p:cNvPr>
          <p:cNvSpPr>
            <a:spLocks noGrp="1"/>
          </p:cNvSpPr>
          <p:nvPr>
            <p:ph type="sldNum" sz="quarter" idx="12"/>
          </p:nvPr>
        </p:nvSpPr>
        <p:spPr/>
        <p:txBody>
          <a:bodyPr/>
          <a:lstStyle/>
          <a:p>
            <a:fld id="{6C5FC05A-C924-4EE5-A853-ADA77C45D7CF}" type="slidenum">
              <a:rPr lang="en-IN" sz="2000" smtClean="0">
                <a:solidFill>
                  <a:schemeClr val="tx1"/>
                </a:solidFill>
              </a:rPr>
              <a:t>15</a:t>
            </a:fld>
            <a:endParaRPr lang="en-IN" sz="2000" dirty="0">
              <a:solidFill>
                <a:schemeClr val="tx1"/>
              </a:solidFill>
            </a:endParaRPr>
          </a:p>
        </p:txBody>
      </p:sp>
    </p:spTree>
    <p:extLst>
      <p:ext uri="{BB962C8B-B14F-4D97-AF65-F5344CB8AC3E}">
        <p14:creationId xmlns:p14="http://schemas.microsoft.com/office/powerpoint/2010/main" val="3318128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19AE-08EE-FF8E-2C56-77226D0D1E3D}"/>
              </a:ext>
            </a:extLst>
          </p:cNvPr>
          <p:cNvSpPr>
            <a:spLocks noGrp="1"/>
          </p:cNvSpPr>
          <p:nvPr>
            <p:ph type="title"/>
          </p:nvPr>
        </p:nvSpPr>
        <p:spPr/>
        <p:txBody>
          <a:bodyPr>
            <a:normAutofit/>
          </a:bodyPr>
          <a:lstStyle/>
          <a:p>
            <a:pPr algn="ctr"/>
            <a:r>
              <a:rPr lang="en-IN" sz="4000" dirty="0">
                <a:solidFill>
                  <a:schemeClr val="accent1">
                    <a:lumMod val="75000"/>
                  </a:schemeClr>
                </a:solidFill>
                <a:latin typeface="Times New Roman" panose="02020603050405020304" pitchFamily="18" charset="0"/>
                <a:cs typeface="Times New Roman" panose="02020603050405020304" pitchFamily="18" charset="0"/>
              </a:rPr>
              <a:t>RESULTS AND DISCUSSIONS</a:t>
            </a:r>
          </a:p>
        </p:txBody>
      </p:sp>
      <p:sp>
        <p:nvSpPr>
          <p:cNvPr id="4" name="Content Placeholder 3">
            <a:extLst>
              <a:ext uri="{FF2B5EF4-FFF2-40B4-BE49-F238E27FC236}">
                <a16:creationId xmlns:a16="http://schemas.microsoft.com/office/drawing/2014/main" id="{E2BEE8E0-C537-6A7F-0BBF-4CCB8E00BC91}"/>
              </a:ext>
            </a:extLst>
          </p:cNvPr>
          <p:cNvSpPr>
            <a:spLocks noGrp="1"/>
          </p:cNvSpPr>
          <p:nvPr>
            <p:ph sz="half" idx="2"/>
          </p:nvPr>
        </p:nvSpPr>
        <p:spPr>
          <a:xfrm>
            <a:off x="6172200" y="1974534"/>
            <a:ext cx="5181600" cy="4202430"/>
          </a:xfrm>
        </p:spPr>
        <p:txBody>
          <a:bodyPr>
            <a:normAutofit lnSpcReduction="10000"/>
          </a:bodyPr>
          <a:lstStyle/>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Overall classification accuracy on test data: 69.4%</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class accuracies of AF, NSR, AR and noisy signal are 54.9%, 65.6%, 52.6% and 100% respectively</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False Negatives for AF is 45.1 % and for AR is 47.4%</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AF is mostly misclassified as AR whereas AR is mostly misclassified as NSR</a:t>
            </a:r>
          </a:p>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On performing Chi-square test on data </a:t>
            </a:r>
            <a:r>
              <a:rPr lang="en-US" sz="1800" dirty="0">
                <a:latin typeface="Times New Roman" panose="02020603050405020304" pitchFamily="18" charset="0"/>
                <a:ea typeface="SimSun" panose="02010600030101010101" pitchFamily="2" charset="-122"/>
                <a:cs typeface="Times New Roman" panose="02020603050405020304" pitchFamily="18" charset="0"/>
              </a:rPr>
              <a:t>C</a:t>
            </a:r>
            <a:r>
              <a:rPr lang="en-US" sz="1800" dirty="0">
                <a:effectLst/>
                <a:latin typeface="Times New Roman" panose="02020603050405020304" pitchFamily="18" charset="0"/>
                <a:ea typeface="SimSun" panose="02010600030101010101" pitchFamily="2" charset="-122"/>
              </a:rPr>
              <a:t>hi-square statistic of 3.9531 and p-value of 0.046785 is obtained</a:t>
            </a:r>
          </a:p>
          <a:p>
            <a:pPr>
              <a:buFont typeface="Wingdings" panose="05000000000000000000" pitchFamily="2" charset="2"/>
              <a:buChar char="§"/>
            </a:pPr>
            <a:r>
              <a:rPr lang="en-US" sz="1800" dirty="0">
                <a:latin typeface="Times New Roman" panose="02020603050405020304" pitchFamily="18" charset="0"/>
                <a:ea typeface="SimSun" panose="02010600030101010101" pitchFamily="2" charset="-122"/>
                <a:cs typeface="Times New Roman" panose="02020603050405020304" pitchFamily="18" charset="0"/>
              </a:rPr>
              <a:t>Significance level of the test : 0.05</a:t>
            </a:r>
            <a:endParaRPr lang="en-IN" sz="200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8DEA7F52-E96C-FDC3-1F8E-DECB2CF82F6E}"/>
              </a:ext>
            </a:extLst>
          </p:cNvPr>
          <p:cNvCxnSpPr/>
          <p:nvPr/>
        </p:nvCxnSpPr>
        <p:spPr>
          <a:xfrm>
            <a:off x="0" y="812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5C47D78-B4A8-7D63-F4E3-1FAD56D66B36}"/>
              </a:ext>
            </a:extLst>
          </p:cNvPr>
          <p:cNvCxnSpPr/>
          <p:nvPr/>
        </p:nvCxnSpPr>
        <p:spPr>
          <a:xfrm>
            <a:off x="0" y="677672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915B0865-C133-0A0B-36C1-268A3E4AFBAA}"/>
              </a:ext>
            </a:extLst>
          </p:cNvPr>
          <p:cNvSpPr>
            <a:spLocks noGrp="1"/>
          </p:cNvSpPr>
          <p:nvPr>
            <p:ph type="sldNum" sz="quarter" idx="12"/>
          </p:nvPr>
        </p:nvSpPr>
        <p:spPr/>
        <p:txBody>
          <a:bodyPr/>
          <a:lstStyle/>
          <a:p>
            <a:fld id="{6C5FC05A-C924-4EE5-A853-ADA77C45D7CF}" type="slidenum">
              <a:rPr lang="en-IN" sz="2000" smtClean="0">
                <a:solidFill>
                  <a:schemeClr val="tx1"/>
                </a:solidFill>
              </a:rPr>
              <a:t>16</a:t>
            </a:fld>
            <a:endParaRPr lang="en-IN" sz="2000" dirty="0">
              <a:solidFill>
                <a:schemeClr val="tx1"/>
              </a:solidFill>
            </a:endParaRPr>
          </a:p>
        </p:txBody>
      </p:sp>
      <p:pic>
        <p:nvPicPr>
          <p:cNvPr id="11" name="Content Placeholder 10">
            <a:extLst>
              <a:ext uri="{FF2B5EF4-FFF2-40B4-BE49-F238E27FC236}">
                <a16:creationId xmlns:a16="http://schemas.microsoft.com/office/drawing/2014/main" id="{AA2814AC-A3C4-2700-2D58-5373D77C4473}"/>
              </a:ext>
            </a:extLst>
          </p:cNvPr>
          <p:cNvPicPr>
            <a:picLocks noGrp="1" noChangeAspect="1"/>
          </p:cNvPicPr>
          <p:nvPr>
            <p:ph sz="half" idx="1"/>
          </p:nvPr>
        </p:nvPicPr>
        <p:blipFill>
          <a:blip r:embed="rId2"/>
          <a:stretch>
            <a:fillRect/>
          </a:stretch>
        </p:blipFill>
        <p:spPr>
          <a:xfrm>
            <a:off x="1260698" y="1825625"/>
            <a:ext cx="4336604" cy="4351338"/>
          </a:xfrm>
        </p:spPr>
      </p:pic>
    </p:spTree>
    <p:extLst>
      <p:ext uri="{BB962C8B-B14F-4D97-AF65-F5344CB8AC3E}">
        <p14:creationId xmlns:p14="http://schemas.microsoft.com/office/powerpoint/2010/main" val="338703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A52D-ADB4-84EF-59FE-6FD561F081C5}"/>
              </a:ext>
            </a:extLst>
          </p:cNvPr>
          <p:cNvSpPr>
            <a:spLocks noGrp="1"/>
          </p:cNvSpPr>
          <p:nvPr>
            <p:ph type="title"/>
          </p:nvPr>
        </p:nvSpPr>
        <p:spPr/>
        <p:txBody>
          <a:bodyPr/>
          <a:lstStyle/>
          <a:p>
            <a:r>
              <a:rPr lang="en-IN" sz="4400" dirty="0">
                <a:solidFill>
                  <a:schemeClr val="accent1">
                    <a:lumMod val="75000"/>
                  </a:schemeClr>
                </a:solidFill>
                <a:latin typeface="Times New Roman" panose="02020603050405020304" pitchFamily="18" charset="0"/>
                <a:cs typeface="Times New Roman" panose="02020603050405020304" pitchFamily="18" charset="0"/>
              </a:rPr>
              <a:t>         RESULTS AND DISCUSSIONS</a:t>
            </a:r>
            <a:endParaRPr lang="en-IN" dirty="0"/>
          </a:p>
        </p:txBody>
      </p:sp>
      <p:sp>
        <p:nvSpPr>
          <p:cNvPr id="3" name="Text Placeholder 2">
            <a:extLst>
              <a:ext uri="{FF2B5EF4-FFF2-40B4-BE49-F238E27FC236}">
                <a16:creationId xmlns:a16="http://schemas.microsoft.com/office/drawing/2014/main" id="{EA974FB5-55EF-FDE4-2A1A-D7BB5BE01E9D}"/>
              </a:ext>
            </a:extLst>
          </p:cNvPr>
          <p:cNvSpPr>
            <a:spLocks noGrp="1"/>
          </p:cNvSpPr>
          <p:nvPr>
            <p:ph type="body" idx="1"/>
          </p:nvPr>
        </p:nvSpPr>
        <p:spPr/>
        <p:txBody>
          <a:bodyPr/>
          <a:lstStyle/>
          <a:p>
            <a:pPr algn="ctr"/>
            <a:r>
              <a:rPr lang="en-IN" dirty="0">
                <a:solidFill>
                  <a:schemeClr val="accent1">
                    <a:lumMod val="50000"/>
                  </a:schemeClr>
                </a:solidFill>
                <a:latin typeface="Times New Roman" panose="02020603050405020304" pitchFamily="18" charset="0"/>
                <a:cs typeface="Times New Roman" panose="02020603050405020304" pitchFamily="18" charset="0"/>
              </a:rPr>
              <a:t>ROC Curve for AF</a:t>
            </a:r>
          </a:p>
        </p:txBody>
      </p:sp>
      <p:sp>
        <p:nvSpPr>
          <p:cNvPr id="5" name="Text Placeholder 4">
            <a:extLst>
              <a:ext uri="{FF2B5EF4-FFF2-40B4-BE49-F238E27FC236}">
                <a16:creationId xmlns:a16="http://schemas.microsoft.com/office/drawing/2014/main" id="{E9245799-3CE2-E5BE-7D00-D7309E065416}"/>
              </a:ext>
            </a:extLst>
          </p:cNvPr>
          <p:cNvSpPr>
            <a:spLocks noGrp="1"/>
          </p:cNvSpPr>
          <p:nvPr>
            <p:ph type="body" sz="quarter" idx="3"/>
          </p:nvPr>
        </p:nvSpPr>
        <p:spPr/>
        <p:txBody>
          <a:bodyPr/>
          <a:lstStyle/>
          <a:p>
            <a:pPr algn="ctr"/>
            <a:r>
              <a:rPr lang="en-IN" dirty="0">
                <a:solidFill>
                  <a:schemeClr val="accent1">
                    <a:lumMod val="50000"/>
                  </a:schemeClr>
                </a:solidFill>
                <a:latin typeface="Times New Roman" panose="02020603050405020304" pitchFamily="18" charset="0"/>
                <a:cs typeface="Times New Roman" panose="02020603050405020304" pitchFamily="18" charset="0"/>
              </a:rPr>
              <a:t>ROC Curve for NSR</a:t>
            </a:r>
          </a:p>
        </p:txBody>
      </p:sp>
      <p:cxnSp>
        <p:nvCxnSpPr>
          <p:cNvPr id="9" name="Straight Connector 8">
            <a:extLst>
              <a:ext uri="{FF2B5EF4-FFF2-40B4-BE49-F238E27FC236}">
                <a16:creationId xmlns:a16="http://schemas.microsoft.com/office/drawing/2014/main" id="{D757F14C-F962-A5DC-0531-09B631E2A6D6}"/>
              </a:ext>
            </a:extLst>
          </p:cNvPr>
          <p:cNvCxnSpPr/>
          <p:nvPr/>
        </p:nvCxnSpPr>
        <p:spPr>
          <a:xfrm>
            <a:off x="0" y="812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56D59542-7DDF-B21A-98E5-3FDD4B4A5330}"/>
              </a:ext>
            </a:extLst>
          </p:cNvPr>
          <p:cNvSpPr>
            <a:spLocks noGrp="1"/>
          </p:cNvSpPr>
          <p:nvPr>
            <p:ph type="sldNum" sz="quarter" idx="12"/>
          </p:nvPr>
        </p:nvSpPr>
        <p:spPr/>
        <p:txBody>
          <a:bodyPr/>
          <a:lstStyle/>
          <a:p>
            <a:fld id="{6C5FC05A-C924-4EE5-A853-ADA77C45D7CF}" type="slidenum">
              <a:rPr lang="en-IN" sz="1800" smtClean="0">
                <a:solidFill>
                  <a:schemeClr val="tx1"/>
                </a:solidFill>
              </a:rPr>
              <a:t>17</a:t>
            </a:fld>
            <a:endParaRPr lang="en-IN" sz="1800" dirty="0">
              <a:solidFill>
                <a:schemeClr val="tx1"/>
              </a:solidFill>
            </a:endParaRPr>
          </a:p>
        </p:txBody>
      </p:sp>
      <p:pic>
        <p:nvPicPr>
          <p:cNvPr id="14" name="Content Placeholder 13">
            <a:extLst>
              <a:ext uri="{FF2B5EF4-FFF2-40B4-BE49-F238E27FC236}">
                <a16:creationId xmlns:a16="http://schemas.microsoft.com/office/drawing/2014/main" id="{DAED3E0E-8C8E-2D1F-4106-B4633D477104}"/>
              </a:ext>
            </a:extLst>
          </p:cNvPr>
          <p:cNvPicPr>
            <a:picLocks noGrp="1" noChangeAspect="1"/>
          </p:cNvPicPr>
          <p:nvPr>
            <p:ph sz="half" idx="2"/>
          </p:nvPr>
        </p:nvPicPr>
        <p:blipFill>
          <a:blip r:embed="rId2"/>
          <a:stretch>
            <a:fillRect/>
          </a:stretch>
        </p:blipFill>
        <p:spPr>
          <a:xfrm>
            <a:off x="1067450" y="2505075"/>
            <a:ext cx="4702463" cy="3684588"/>
          </a:xfrm>
        </p:spPr>
      </p:pic>
      <p:pic>
        <p:nvPicPr>
          <p:cNvPr id="18" name="Content Placeholder 17">
            <a:extLst>
              <a:ext uri="{FF2B5EF4-FFF2-40B4-BE49-F238E27FC236}">
                <a16:creationId xmlns:a16="http://schemas.microsoft.com/office/drawing/2014/main" id="{E86410EE-1743-4F6A-3D25-AEDBF6FC3389}"/>
              </a:ext>
            </a:extLst>
          </p:cNvPr>
          <p:cNvPicPr>
            <a:picLocks noGrp="1" noChangeAspect="1"/>
          </p:cNvPicPr>
          <p:nvPr>
            <p:ph sz="quarter" idx="4"/>
          </p:nvPr>
        </p:nvPicPr>
        <p:blipFill>
          <a:blip r:embed="rId3"/>
          <a:stretch>
            <a:fillRect/>
          </a:stretch>
        </p:blipFill>
        <p:spPr>
          <a:xfrm>
            <a:off x="6354641" y="2505075"/>
            <a:ext cx="4818306" cy="3684588"/>
          </a:xfrm>
        </p:spPr>
      </p:pic>
      <p:cxnSp>
        <p:nvCxnSpPr>
          <p:cNvPr id="4" name="Straight Connector 3">
            <a:extLst>
              <a:ext uri="{FF2B5EF4-FFF2-40B4-BE49-F238E27FC236}">
                <a16:creationId xmlns:a16="http://schemas.microsoft.com/office/drawing/2014/main" id="{AC85EEA2-D26E-DDBF-7BA6-5B5618DB6941}"/>
              </a:ext>
            </a:extLst>
          </p:cNvPr>
          <p:cNvCxnSpPr/>
          <p:nvPr/>
        </p:nvCxnSpPr>
        <p:spPr>
          <a:xfrm>
            <a:off x="0" y="677672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022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9A40E-6AF8-4C45-CB0F-2E96C808C20D}"/>
              </a:ext>
            </a:extLst>
          </p:cNvPr>
          <p:cNvSpPr>
            <a:spLocks noGrp="1"/>
          </p:cNvSpPr>
          <p:nvPr>
            <p:ph type="title"/>
          </p:nvPr>
        </p:nvSpPr>
        <p:spPr/>
        <p:txBody>
          <a:bodyPr/>
          <a:lstStyle/>
          <a:p>
            <a:r>
              <a:rPr lang="en-IN" sz="4400" dirty="0">
                <a:solidFill>
                  <a:schemeClr val="accent1">
                    <a:lumMod val="75000"/>
                  </a:schemeClr>
                </a:solidFill>
                <a:latin typeface="Times New Roman" panose="02020603050405020304" pitchFamily="18" charset="0"/>
                <a:cs typeface="Times New Roman" panose="02020603050405020304" pitchFamily="18" charset="0"/>
              </a:rPr>
              <a:t>           RESULTS AND DISCUSSIONS</a:t>
            </a:r>
            <a:endParaRPr lang="en-IN" dirty="0"/>
          </a:p>
        </p:txBody>
      </p:sp>
      <p:sp>
        <p:nvSpPr>
          <p:cNvPr id="3" name="Text Placeholder 2">
            <a:extLst>
              <a:ext uri="{FF2B5EF4-FFF2-40B4-BE49-F238E27FC236}">
                <a16:creationId xmlns:a16="http://schemas.microsoft.com/office/drawing/2014/main" id="{B338CB11-07EA-B94B-9EC6-9C7CCD49B82E}"/>
              </a:ext>
            </a:extLst>
          </p:cNvPr>
          <p:cNvSpPr>
            <a:spLocks noGrp="1"/>
          </p:cNvSpPr>
          <p:nvPr>
            <p:ph type="body" idx="1"/>
          </p:nvPr>
        </p:nvSpPr>
        <p:spPr/>
        <p:txBody>
          <a:bodyPr/>
          <a:lstStyle/>
          <a:p>
            <a:pPr algn="ctr"/>
            <a:r>
              <a:rPr lang="en-IN" dirty="0">
                <a:solidFill>
                  <a:schemeClr val="accent1">
                    <a:lumMod val="50000"/>
                  </a:schemeClr>
                </a:solidFill>
                <a:latin typeface="Times New Roman" panose="02020603050405020304" pitchFamily="18" charset="0"/>
                <a:cs typeface="Times New Roman" panose="02020603050405020304" pitchFamily="18" charset="0"/>
              </a:rPr>
              <a:t>ROC Curve for AR</a:t>
            </a:r>
          </a:p>
        </p:txBody>
      </p:sp>
      <p:sp>
        <p:nvSpPr>
          <p:cNvPr id="5" name="Text Placeholder 4">
            <a:extLst>
              <a:ext uri="{FF2B5EF4-FFF2-40B4-BE49-F238E27FC236}">
                <a16:creationId xmlns:a16="http://schemas.microsoft.com/office/drawing/2014/main" id="{4CC4B5B3-7842-3AC9-358C-02E4E98C6D98}"/>
              </a:ext>
            </a:extLst>
          </p:cNvPr>
          <p:cNvSpPr>
            <a:spLocks noGrp="1"/>
          </p:cNvSpPr>
          <p:nvPr>
            <p:ph type="body" sz="quarter" idx="3"/>
          </p:nvPr>
        </p:nvSpPr>
        <p:spPr/>
        <p:txBody>
          <a:bodyPr/>
          <a:lstStyle/>
          <a:p>
            <a:pPr algn="ctr"/>
            <a:r>
              <a:rPr lang="en-IN" dirty="0">
                <a:solidFill>
                  <a:schemeClr val="accent1">
                    <a:lumMod val="50000"/>
                  </a:schemeClr>
                </a:solidFill>
                <a:latin typeface="Times New Roman" panose="02020603050405020304" pitchFamily="18" charset="0"/>
                <a:cs typeface="Times New Roman" panose="02020603050405020304" pitchFamily="18" charset="0"/>
              </a:rPr>
              <a:t>ROC Curve for noisy signal</a:t>
            </a:r>
          </a:p>
        </p:txBody>
      </p:sp>
      <p:cxnSp>
        <p:nvCxnSpPr>
          <p:cNvPr id="12" name="Straight Connector 11">
            <a:extLst>
              <a:ext uri="{FF2B5EF4-FFF2-40B4-BE49-F238E27FC236}">
                <a16:creationId xmlns:a16="http://schemas.microsoft.com/office/drawing/2014/main" id="{D49C5F42-0541-D86A-8D6F-FEBAE2A42091}"/>
              </a:ext>
            </a:extLst>
          </p:cNvPr>
          <p:cNvCxnSpPr/>
          <p:nvPr/>
        </p:nvCxnSpPr>
        <p:spPr>
          <a:xfrm>
            <a:off x="0" y="304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E8A182F8-3F45-4203-5C55-71DD1736E306}"/>
              </a:ext>
            </a:extLst>
          </p:cNvPr>
          <p:cNvSpPr>
            <a:spLocks noGrp="1"/>
          </p:cNvSpPr>
          <p:nvPr>
            <p:ph type="sldNum" sz="quarter" idx="12"/>
          </p:nvPr>
        </p:nvSpPr>
        <p:spPr/>
        <p:txBody>
          <a:bodyPr/>
          <a:lstStyle/>
          <a:p>
            <a:fld id="{6C5FC05A-C924-4EE5-A853-ADA77C45D7CF}" type="slidenum">
              <a:rPr lang="en-IN" sz="2000" smtClean="0">
                <a:solidFill>
                  <a:schemeClr val="tx1"/>
                </a:solidFill>
              </a:rPr>
              <a:t>18</a:t>
            </a:fld>
            <a:endParaRPr lang="en-IN" sz="2000" dirty="0">
              <a:solidFill>
                <a:schemeClr val="tx1"/>
              </a:solidFill>
            </a:endParaRPr>
          </a:p>
        </p:txBody>
      </p:sp>
      <p:pic>
        <p:nvPicPr>
          <p:cNvPr id="16" name="Content Placeholder 15">
            <a:extLst>
              <a:ext uri="{FF2B5EF4-FFF2-40B4-BE49-F238E27FC236}">
                <a16:creationId xmlns:a16="http://schemas.microsoft.com/office/drawing/2014/main" id="{B328F699-315A-4F8D-25B9-ED08BCF42533}"/>
              </a:ext>
            </a:extLst>
          </p:cNvPr>
          <p:cNvPicPr>
            <a:picLocks noGrp="1" noChangeAspect="1"/>
          </p:cNvPicPr>
          <p:nvPr>
            <p:ph sz="quarter" idx="4"/>
          </p:nvPr>
        </p:nvPicPr>
        <p:blipFill>
          <a:blip r:embed="rId2"/>
          <a:stretch>
            <a:fillRect/>
          </a:stretch>
        </p:blipFill>
        <p:spPr>
          <a:xfrm>
            <a:off x="6331135" y="2505075"/>
            <a:ext cx="4865317" cy="3684588"/>
          </a:xfrm>
        </p:spPr>
      </p:pic>
      <p:pic>
        <p:nvPicPr>
          <p:cNvPr id="22" name="Content Placeholder 21">
            <a:extLst>
              <a:ext uri="{FF2B5EF4-FFF2-40B4-BE49-F238E27FC236}">
                <a16:creationId xmlns:a16="http://schemas.microsoft.com/office/drawing/2014/main" id="{420B0280-84CE-8EC2-9D92-D81580E95627}"/>
              </a:ext>
            </a:extLst>
          </p:cNvPr>
          <p:cNvPicPr>
            <a:picLocks noGrp="1" noChangeAspect="1"/>
          </p:cNvPicPr>
          <p:nvPr>
            <p:ph sz="half" idx="2"/>
          </p:nvPr>
        </p:nvPicPr>
        <p:blipFill>
          <a:blip r:embed="rId3"/>
          <a:stretch>
            <a:fillRect/>
          </a:stretch>
        </p:blipFill>
        <p:spPr>
          <a:xfrm>
            <a:off x="1033490" y="2505075"/>
            <a:ext cx="4770383" cy="3684588"/>
          </a:xfrm>
        </p:spPr>
      </p:pic>
      <p:cxnSp>
        <p:nvCxnSpPr>
          <p:cNvPr id="4" name="Straight Connector 3">
            <a:extLst>
              <a:ext uri="{FF2B5EF4-FFF2-40B4-BE49-F238E27FC236}">
                <a16:creationId xmlns:a16="http://schemas.microsoft.com/office/drawing/2014/main" id="{3ED798AC-B055-CB5F-7127-5C3CC23A901D}"/>
              </a:ext>
            </a:extLst>
          </p:cNvPr>
          <p:cNvCxnSpPr/>
          <p:nvPr/>
        </p:nvCxnSpPr>
        <p:spPr>
          <a:xfrm>
            <a:off x="0" y="677672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315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34C4-C99B-B557-9527-E090298623EA}"/>
              </a:ext>
            </a:extLst>
          </p:cNvPr>
          <p:cNvSpPr>
            <a:spLocks noGrp="1"/>
          </p:cNvSpPr>
          <p:nvPr>
            <p:ph type="title"/>
          </p:nvPr>
        </p:nvSpPr>
        <p:spPr>
          <a:xfrm>
            <a:off x="838200" y="263525"/>
            <a:ext cx="10515600" cy="1325563"/>
          </a:xfrm>
        </p:spPr>
        <p:txBody>
          <a:bodyPr/>
          <a:lstStyle/>
          <a:p>
            <a:r>
              <a:rPr lang="en-IN" sz="4400" dirty="0">
                <a:solidFill>
                  <a:schemeClr val="accent1">
                    <a:lumMod val="75000"/>
                  </a:schemeClr>
                </a:solidFill>
                <a:latin typeface="Times New Roman" panose="02020603050405020304" pitchFamily="18" charset="0"/>
                <a:cs typeface="Times New Roman" panose="02020603050405020304" pitchFamily="18" charset="0"/>
              </a:rPr>
              <a:t>       </a:t>
            </a:r>
            <a:r>
              <a:rPr lang="en-IN" sz="4400" dirty="0">
                <a:solidFill>
                  <a:schemeClr val="tx2">
                    <a:lumMod val="75000"/>
                  </a:schemeClr>
                </a:solidFill>
                <a:latin typeface="Times New Roman" panose="02020603050405020304" pitchFamily="18" charset="0"/>
                <a:cs typeface="Times New Roman" panose="02020603050405020304" pitchFamily="18" charset="0"/>
              </a:rPr>
              <a:t>RESULTS AND DISCUSSIONS</a:t>
            </a:r>
            <a:endParaRPr lang="en-IN" dirty="0">
              <a:solidFill>
                <a:schemeClr val="tx2">
                  <a:lumMod val="75000"/>
                </a:schemeClr>
              </a:solidFill>
            </a:endParaRPr>
          </a:p>
        </p:txBody>
      </p:sp>
      <p:sp>
        <p:nvSpPr>
          <p:cNvPr id="7" name="Content Placeholder 6">
            <a:extLst>
              <a:ext uri="{FF2B5EF4-FFF2-40B4-BE49-F238E27FC236}">
                <a16:creationId xmlns:a16="http://schemas.microsoft.com/office/drawing/2014/main" id="{9E63DD7A-17B4-4E1F-90EE-870466810A99}"/>
              </a:ext>
            </a:extLst>
          </p:cNvPr>
          <p:cNvSpPr>
            <a:spLocks noGrp="1"/>
          </p:cNvSpPr>
          <p:nvPr>
            <p:ph sz="half" idx="2"/>
          </p:nvPr>
        </p:nvSpPr>
        <p:spPr>
          <a:xfrm>
            <a:off x="6172200" y="2509519"/>
            <a:ext cx="5181600" cy="3667443"/>
          </a:xfrm>
        </p:spPr>
        <p:txBody>
          <a:bodyPr>
            <a:normAutofit lnSpcReduction="10000"/>
          </a:bodyPr>
          <a:lstStyle/>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Precision: Measures how accurately the model predicts positive values</a:t>
            </a: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Recall: Measures </a:t>
            </a:r>
            <a:r>
              <a:rPr lang="en-US" sz="2400" dirty="0">
                <a:solidFill>
                  <a:srgbClr val="000000"/>
                </a:solidFill>
                <a:latin typeface="Times New Roman" panose="02020603050405020304" pitchFamily="18" charset="0"/>
                <a:cs typeface="Times New Roman" panose="02020603050405020304" pitchFamily="18" charset="0"/>
              </a:rPr>
              <a:t>h</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ow well the model predicts all relevant instances from the positive class </a:t>
            </a:r>
            <a:endParaRPr lang="en-IN" sz="2400" b="0" i="0" u="none" strike="noStrike" baseline="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400" dirty="0">
                <a:solidFill>
                  <a:srgbClr val="000000"/>
                </a:solidFill>
                <a:latin typeface="Times New Roman" panose="02020603050405020304" pitchFamily="18" charset="0"/>
                <a:cs typeface="Times New Roman" panose="02020603050405020304" pitchFamily="18" charset="0"/>
              </a:rPr>
              <a:t>F1 score: Harmonic mean of precision and recall</a:t>
            </a:r>
          </a:p>
          <a:p>
            <a:pPr>
              <a:buFont typeface="Wingdings" panose="05000000000000000000" pitchFamily="2" charset="2"/>
              <a:buChar char="§"/>
            </a:pPr>
            <a:r>
              <a:rPr lang="en-IN" sz="2400" dirty="0">
                <a:solidFill>
                  <a:srgbClr val="000000"/>
                </a:solidFill>
                <a:latin typeface="Times New Roman" panose="02020603050405020304" pitchFamily="18" charset="0"/>
                <a:cs typeface="Times New Roman" panose="02020603050405020304" pitchFamily="18" charset="0"/>
              </a:rPr>
              <a:t>Two class classification to detect AF from Normal rhythm : F1 score of 0.76</a:t>
            </a:r>
            <a:endParaRPr lang="en-IN" sz="2400" dirty="0">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69F3F364-E990-7BDC-3179-CABC62A5B81B}"/>
              </a:ext>
            </a:extLst>
          </p:cNvPr>
          <p:cNvCxnSpPr/>
          <p:nvPr/>
        </p:nvCxnSpPr>
        <p:spPr>
          <a:xfrm>
            <a:off x="0" y="812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39EDC-0523-A56A-9F10-3528BBDD5A4F}"/>
              </a:ext>
            </a:extLst>
          </p:cNvPr>
          <p:cNvCxnSpPr/>
          <p:nvPr/>
        </p:nvCxnSpPr>
        <p:spPr>
          <a:xfrm>
            <a:off x="0" y="6756400"/>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4165C43C-0B5D-DBDC-EA01-A0D91F05F12C}"/>
              </a:ext>
            </a:extLst>
          </p:cNvPr>
          <p:cNvSpPr>
            <a:spLocks noGrp="1"/>
          </p:cNvSpPr>
          <p:nvPr>
            <p:ph type="sldNum" sz="quarter" idx="12"/>
          </p:nvPr>
        </p:nvSpPr>
        <p:spPr/>
        <p:txBody>
          <a:bodyPr/>
          <a:lstStyle/>
          <a:p>
            <a:fld id="{6C5FC05A-C924-4EE5-A853-ADA77C45D7CF}" type="slidenum">
              <a:rPr lang="en-IN" sz="1800" smtClean="0">
                <a:solidFill>
                  <a:schemeClr val="tx1"/>
                </a:solidFill>
              </a:rPr>
              <a:t>19</a:t>
            </a:fld>
            <a:endParaRPr lang="en-IN" sz="1800" dirty="0">
              <a:solidFill>
                <a:schemeClr val="tx1"/>
              </a:solidFill>
            </a:endParaRPr>
          </a:p>
        </p:txBody>
      </p:sp>
      <p:graphicFrame>
        <p:nvGraphicFramePr>
          <p:cNvPr id="6" name="Content Placeholder 5">
            <a:extLst>
              <a:ext uri="{FF2B5EF4-FFF2-40B4-BE49-F238E27FC236}">
                <a16:creationId xmlns:a16="http://schemas.microsoft.com/office/drawing/2014/main" id="{12367DF1-C839-E89F-CDA4-4462FDC11415}"/>
              </a:ext>
            </a:extLst>
          </p:cNvPr>
          <p:cNvGraphicFramePr>
            <a:graphicFrameLocks noGrp="1"/>
          </p:cNvGraphicFramePr>
          <p:nvPr>
            <p:ph sz="half" idx="1"/>
            <p:extLst>
              <p:ext uri="{D42A27DB-BD31-4B8C-83A1-F6EECF244321}">
                <p14:modId xmlns:p14="http://schemas.microsoft.com/office/powerpoint/2010/main" val="2589418492"/>
              </p:ext>
            </p:extLst>
          </p:nvPr>
        </p:nvGraphicFramePr>
        <p:xfrm>
          <a:off x="1127760" y="3017525"/>
          <a:ext cx="4318000" cy="2231060"/>
        </p:xfrm>
        <a:graphic>
          <a:graphicData uri="http://schemas.openxmlformats.org/drawingml/2006/table">
            <a:tbl>
              <a:tblPr/>
              <a:tblGrid>
                <a:gridCol w="963123">
                  <a:extLst>
                    <a:ext uri="{9D8B030D-6E8A-4147-A177-3AD203B41FA5}">
                      <a16:colId xmlns:a16="http://schemas.microsoft.com/office/drawing/2014/main" val="2784503785"/>
                    </a:ext>
                  </a:extLst>
                </a:gridCol>
                <a:gridCol w="1268111">
                  <a:extLst>
                    <a:ext uri="{9D8B030D-6E8A-4147-A177-3AD203B41FA5}">
                      <a16:colId xmlns:a16="http://schemas.microsoft.com/office/drawing/2014/main" val="806500670"/>
                    </a:ext>
                  </a:extLst>
                </a:gridCol>
                <a:gridCol w="1027331">
                  <a:extLst>
                    <a:ext uri="{9D8B030D-6E8A-4147-A177-3AD203B41FA5}">
                      <a16:colId xmlns:a16="http://schemas.microsoft.com/office/drawing/2014/main" val="535582233"/>
                    </a:ext>
                  </a:extLst>
                </a:gridCol>
                <a:gridCol w="1059435">
                  <a:extLst>
                    <a:ext uri="{9D8B030D-6E8A-4147-A177-3AD203B41FA5}">
                      <a16:colId xmlns:a16="http://schemas.microsoft.com/office/drawing/2014/main" val="2785208331"/>
                    </a:ext>
                  </a:extLst>
                </a:gridCol>
              </a:tblGrid>
              <a:tr h="446212">
                <a:tc>
                  <a:txBody>
                    <a:bodyPr/>
                    <a:lstStyle/>
                    <a:p>
                      <a:pPr algn="ctr" fontAlgn="b"/>
                      <a:r>
                        <a:rPr lang="en-IN" sz="1400" b="0" i="0" u="none" strike="noStrike">
                          <a:solidFill>
                            <a:srgbClr val="203764"/>
                          </a:solidFill>
                          <a:effectLst/>
                          <a:latin typeface="Times New Roman" panose="02020603050405020304" pitchFamily="18" charset="0"/>
                        </a:rPr>
                        <a:t>CLASS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203764"/>
                          </a:solidFill>
                          <a:effectLst/>
                          <a:latin typeface="Times New Roman" panose="02020603050405020304" pitchFamily="18" charset="0"/>
                        </a:rPr>
                        <a:t>PRECISION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203764"/>
                          </a:solidFill>
                          <a:effectLst/>
                          <a:latin typeface="Times New Roman" panose="02020603050405020304" pitchFamily="18" charset="0"/>
                        </a:rPr>
                        <a:t>RECALL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203764"/>
                          </a:solidFill>
                          <a:effectLst/>
                          <a:latin typeface="Times New Roman" panose="02020603050405020304" pitchFamily="18" charset="0"/>
                        </a:rPr>
                        <a:t>F1 SCORE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5254821"/>
                  </a:ext>
                </a:extLst>
              </a:tr>
              <a:tr h="446212">
                <a:tc>
                  <a:txBody>
                    <a:bodyPr/>
                    <a:lstStyle/>
                    <a:p>
                      <a:pPr algn="ctr" fontAlgn="b"/>
                      <a:r>
                        <a:rPr lang="en-IN" sz="1400" b="1" i="0" u="none" strike="noStrike" dirty="0">
                          <a:solidFill>
                            <a:schemeClr val="tx1"/>
                          </a:solidFill>
                          <a:effectLst/>
                          <a:latin typeface="Times New Roman" panose="02020603050405020304" pitchFamily="18" charset="0"/>
                        </a:rPr>
                        <a:t>AF</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chemeClr val="tx1"/>
                          </a:solidFill>
                          <a:effectLst/>
                          <a:latin typeface="Times New Roman" panose="02020603050405020304" pitchFamily="18" charset="0"/>
                        </a:rPr>
                        <a:t>0.75422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chemeClr val="tx1"/>
                          </a:solidFill>
                          <a:effectLst/>
                          <a:latin typeface="Times New Roman" panose="02020603050405020304" pitchFamily="18" charset="0"/>
                        </a:rPr>
                        <a:t>0.61375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chemeClr val="tx1"/>
                          </a:solidFill>
                          <a:effectLst/>
                          <a:latin typeface="Times New Roman" panose="02020603050405020304" pitchFamily="18" charset="0"/>
                        </a:rPr>
                        <a:t>0.67677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845125"/>
                  </a:ext>
                </a:extLst>
              </a:tr>
              <a:tr h="446212">
                <a:tc>
                  <a:txBody>
                    <a:bodyPr/>
                    <a:lstStyle/>
                    <a:p>
                      <a:pPr algn="ctr" fontAlgn="b"/>
                      <a:r>
                        <a:rPr lang="en-IN" sz="1400" b="1" i="0" u="none" strike="noStrike" dirty="0">
                          <a:solidFill>
                            <a:schemeClr val="tx1"/>
                          </a:solidFill>
                          <a:effectLst/>
                          <a:latin typeface="Times New Roman" panose="02020603050405020304" pitchFamily="18" charset="0"/>
                        </a:rPr>
                        <a:t>NSR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chemeClr val="tx1"/>
                          </a:solidFill>
                          <a:effectLst/>
                          <a:latin typeface="Times New Roman" panose="02020603050405020304" pitchFamily="18" charset="0"/>
                        </a:rPr>
                        <a:t>0.67471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chemeClr val="tx1"/>
                          </a:solidFill>
                          <a:effectLst/>
                          <a:latin typeface="Times New Roman" panose="02020603050405020304" pitchFamily="18" charset="0"/>
                        </a:rPr>
                        <a:t>0.72596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chemeClr val="tx1"/>
                          </a:solidFill>
                          <a:effectLst/>
                          <a:latin typeface="Times New Roman" panose="02020603050405020304" pitchFamily="18" charset="0"/>
                        </a:rPr>
                        <a:t>0.6994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9018169"/>
                  </a:ext>
                </a:extLst>
              </a:tr>
              <a:tr h="446212">
                <a:tc>
                  <a:txBody>
                    <a:bodyPr/>
                    <a:lstStyle/>
                    <a:p>
                      <a:pPr algn="ctr" fontAlgn="b"/>
                      <a:r>
                        <a:rPr lang="en-IN" sz="1400" b="1" i="0" u="none" strike="noStrike">
                          <a:solidFill>
                            <a:schemeClr val="tx1"/>
                          </a:solidFill>
                          <a:effectLst/>
                          <a:latin typeface="Times New Roman" panose="02020603050405020304" pitchFamily="18" charset="0"/>
                        </a:rPr>
                        <a:t>AR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chemeClr val="tx1"/>
                          </a:solidFill>
                          <a:effectLst/>
                          <a:latin typeface="Times New Roman" panose="02020603050405020304" pitchFamily="18" charset="0"/>
                        </a:rPr>
                        <a:t>0.52074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chemeClr val="tx1"/>
                          </a:solidFill>
                          <a:effectLst/>
                          <a:latin typeface="Times New Roman" panose="02020603050405020304" pitchFamily="18" charset="0"/>
                        </a:rPr>
                        <a:t>0.565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chemeClr val="tx1"/>
                          </a:solidFill>
                          <a:effectLst/>
                          <a:latin typeface="Times New Roman" panose="02020603050405020304" pitchFamily="18" charset="0"/>
                        </a:rPr>
                        <a:t>0.54197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7429034"/>
                  </a:ext>
                </a:extLst>
              </a:tr>
              <a:tr h="446212">
                <a:tc>
                  <a:txBody>
                    <a:bodyPr/>
                    <a:lstStyle/>
                    <a:p>
                      <a:pPr algn="ctr" fontAlgn="b"/>
                      <a:r>
                        <a:rPr lang="en-IN" sz="1400" b="1" i="0" u="none" strike="noStrike">
                          <a:solidFill>
                            <a:schemeClr val="tx1"/>
                          </a:solidFill>
                          <a:effectLst/>
                          <a:latin typeface="Times New Roman" panose="02020603050405020304" pitchFamily="18" charset="0"/>
                        </a:rPr>
                        <a:t>NOISY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chemeClr val="tx1"/>
                          </a:solidFill>
                          <a:effectLst/>
                          <a:latin typeface="Times New Roman" panose="02020603050405020304" pitchFamily="18" charset="0"/>
                        </a:rPr>
                        <a:t>0.99751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chemeClr val="tx1"/>
                          </a:solidFill>
                          <a:effectLst/>
                          <a:latin typeface="Times New Roman" panose="02020603050405020304" pitchFamily="18"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chemeClr val="tx1"/>
                          </a:solidFill>
                          <a:effectLst/>
                          <a:latin typeface="Times New Roman" panose="02020603050405020304" pitchFamily="18" charset="0"/>
                        </a:rPr>
                        <a:t>0.99875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5968395"/>
                  </a:ext>
                </a:extLst>
              </a:tr>
            </a:tbl>
          </a:graphicData>
        </a:graphic>
      </p:graphicFrame>
    </p:spTree>
    <p:extLst>
      <p:ext uri="{BB962C8B-B14F-4D97-AF65-F5344CB8AC3E}">
        <p14:creationId xmlns:p14="http://schemas.microsoft.com/office/powerpoint/2010/main" val="3792485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7EBC65-90B3-47EC-F394-1F5D4CD3D3B0}"/>
              </a:ext>
            </a:extLst>
          </p:cNvPr>
          <p:cNvSpPr>
            <a:spLocks noGrp="1"/>
          </p:cNvSpPr>
          <p:nvPr>
            <p:ph type="body" idx="1"/>
          </p:nvPr>
        </p:nvSpPr>
        <p:spPr>
          <a:xfrm>
            <a:off x="839788" y="894081"/>
            <a:ext cx="5157787" cy="823912"/>
          </a:xfrm>
        </p:spPr>
        <p:txBody>
          <a:bodyPr>
            <a:normAutofit/>
          </a:bodyPr>
          <a:lstStyle/>
          <a:p>
            <a:pPr algn="ctr"/>
            <a:r>
              <a:rPr lang="en-IN" sz="3200" b="0" dirty="0">
                <a:solidFill>
                  <a:schemeClr val="accent1">
                    <a:lumMod val="50000"/>
                  </a:schemeClr>
                </a:solidFill>
                <a:latin typeface="Times New Roman" panose="02020603050405020304" pitchFamily="18" charset="0"/>
                <a:cs typeface="Times New Roman" panose="02020603050405020304" pitchFamily="18" charset="0"/>
              </a:rPr>
              <a:t>LIMITATIONS</a:t>
            </a:r>
          </a:p>
        </p:txBody>
      </p:sp>
      <p:sp>
        <p:nvSpPr>
          <p:cNvPr id="4" name="Content Placeholder 3">
            <a:extLst>
              <a:ext uri="{FF2B5EF4-FFF2-40B4-BE49-F238E27FC236}">
                <a16:creationId xmlns:a16="http://schemas.microsoft.com/office/drawing/2014/main" id="{4AB5B964-B642-D3D6-9D84-92CB5C31BC37}"/>
              </a:ext>
            </a:extLst>
          </p:cNvPr>
          <p:cNvSpPr>
            <a:spLocks noGrp="1"/>
          </p:cNvSpPr>
          <p:nvPr>
            <p:ph sz="half" idx="2"/>
          </p:nvPr>
        </p:nvSpPr>
        <p:spPr>
          <a:xfrm>
            <a:off x="839788" y="2092960"/>
            <a:ext cx="5157787" cy="4096703"/>
          </a:xfrm>
        </p:spPr>
        <p:txBody>
          <a:bodyPr>
            <a:normAutofit/>
          </a:bodyPr>
          <a:lstStyle/>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Less amount of ECG data with high class imbalance </a:t>
            </a:r>
          </a:p>
          <a:p>
            <a:pPr>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P</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atient demographics and environment while recording the signal can impact the data and thereby lead to misclassifications </a:t>
            </a:r>
          </a:p>
          <a:p>
            <a:pPr>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Data augmentation could not improve the performance of the model</a:t>
            </a:r>
          </a:p>
          <a:p>
            <a:pPr>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Black box nature of CNN </a:t>
            </a:r>
            <a:endParaRPr lang="en-IN" sz="20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FC9B153-B950-410C-75C2-70234AD73F70}"/>
              </a:ext>
            </a:extLst>
          </p:cNvPr>
          <p:cNvSpPr>
            <a:spLocks noGrp="1"/>
          </p:cNvSpPr>
          <p:nvPr>
            <p:ph type="body" sz="quarter" idx="3"/>
          </p:nvPr>
        </p:nvSpPr>
        <p:spPr>
          <a:xfrm>
            <a:off x="6172200" y="894081"/>
            <a:ext cx="5183188" cy="823912"/>
          </a:xfrm>
        </p:spPr>
        <p:txBody>
          <a:bodyPr>
            <a:normAutofit/>
          </a:bodyPr>
          <a:lstStyle/>
          <a:p>
            <a:pPr algn="ctr"/>
            <a:r>
              <a:rPr lang="en-IN" sz="3200" b="0" dirty="0">
                <a:solidFill>
                  <a:schemeClr val="accent1">
                    <a:lumMod val="50000"/>
                  </a:schemeClr>
                </a:solidFill>
                <a:latin typeface="Times New Roman" panose="02020603050405020304" pitchFamily="18" charset="0"/>
                <a:cs typeface="Times New Roman" panose="02020603050405020304" pitchFamily="18" charset="0"/>
              </a:rPr>
              <a:t>FUTURE WORK</a:t>
            </a:r>
          </a:p>
        </p:txBody>
      </p:sp>
      <p:sp>
        <p:nvSpPr>
          <p:cNvPr id="6" name="Content Placeholder 5">
            <a:extLst>
              <a:ext uri="{FF2B5EF4-FFF2-40B4-BE49-F238E27FC236}">
                <a16:creationId xmlns:a16="http://schemas.microsoft.com/office/drawing/2014/main" id="{8ADDFAE6-4220-F12F-C056-A17FB43AD66E}"/>
              </a:ext>
            </a:extLst>
          </p:cNvPr>
          <p:cNvSpPr>
            <a:spLocks noGrp="1"/>
          </p:cNvSpPr>
          <p:nvPr>
            <p:ph sz="quarter" idx="4"/>
          </p:nvPr>
        </p:nvSpPr>
        <p:spPr>
          <a:xfrm>
            <a:off x="6172200" y="2092960"/>
            <a:ext cx="5183188" cy="4096703"/>
          </a:xfrm>
        </p:spPr>
        <p:txBody>
          <a:bodyPr/>
          <a:lstStyle/>
          <a:p>
            <a:pPr>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More complex data augmentation techniques can be used</a:t>
            </a:r>
          </a:p>
          <a:p>
            <a:pPr>
              <a:buFont typeface="Wingdings" panose="05000000000000000000" pitchFamily="2" charset="2"/>
              <a:buChar char="§"/>
            </a:pPr>
            <a:r>
              <a:rPr lang="en-US" sz="1800" b="0" i="0" u="none" strike="noStrike" baseline="0" dirty="0">
                <a:solidFill>
                  <a:srgbClr val="000000"/>
                </a:solidFill>
                <a:latin typeface="Times New Roman" panose="02020603050405020304" pitchFamily="18" charset="0"/>
              </a:rPr>
              <a:t>Pre-trained model can be used and tuned to classify the application task</a:t>
            </a:r>
            <a:endParaRPr lang="en-IN" sz="2000" b="0" i="0" u="none" strike="noStrike" baseline="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800" b="0" i="0" u="none" strike="noStrike" baseline="0" dirty="0">
                <a:solidFill>
                  <a:srgbClr val="000000"/>
                </a:solidFill>
                <a:latin typeface="Times New Roman" panose="02020603050405020304" pitchFamily="18" charset="0"/>
              </a:rPr>
              <a:t>Model performance can be validated in real world clinical scenario by collaborating with cardiologists </a:t>
            </a:r>
            <a:endParaRPr lang="en-IN" sz="20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p:txBody>
      </p:sp>
      <p:cxnSp>
        <p:nvCxnSpPr>
          <p:cNvPr id="7" name="Straight Connector 6">
            <a:extLst>
              <a:ext uri="{FF2B5EF4-FFF2-40B4-BE49-F238E27FC236}">
                <a16:creationId xmlns:a16="http://schemas.microsoft.com/office/drawing/2014/main" id="{90AD88A5-4264-09A2-5A4D-8AD0469E40DE}"/>
              </a:ext>
            </a:extLst>
          </p:cNvPr>
          <p:cNvCxnSpPr/>
          <p:nvPr/>
        </p:nvCxnSpPr>
        <p:spPr>
          <a:xfrm>
            <a:off x="0" y="812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C4C8635-1510-9491-A9CD-4817D109B70E}"/>
              </a:ext>
            </a:extLst>
          </p:cNvPr>
          <p:cNvCxnSpPr/>
          <p:nvPr/>
        </p:nvCxnSpPr>
        <p:spPr>
          <a:xfrm>
            <a:off x="0" y="677672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D94223E3-ED91-40AA-4B0A-22FF8FA9B1B3}"/>
              </a:ext>
            </a:extLst>
          </p:cNvPr>
          <p:cNvSpPr>
            <a:spLocks noGrp="1"/>
          </p:cNvSpPr>
          <p:nvPr>
            <p:ph type="sldNum" sz="quarter" idx="12"/>
          </p:nvPr>
        </p:nvSpPr>
        <p:spPr/>
        <p:txBody>
          <a:bodyPr/>
          <a:lstStyle/>
          <a:p>
            <a:fld id="{6C5FC05A-C924-4EE5-A853-ADA77C45D7CF}" type="slidenum">
              <a:rPr lang="en-IN" sz="1800" smtClean="0">
                <a:solidFill>
                  <a:schemeClr val="tx1"/>
                </a:solidFill>
              </a:rPr>
              <a:t>20</a:t>
            </a:fld>
            <a:endParaRPr lang="en-IN" sz="1800" dirty="0">
              <a:solidFill>
                <a:schemeClr val="tx1"/>
              </a:solidFill>
            </a:endParaRPr>
          </a:p>
        </p:txBody>
      </p:sp>
    </p:spTree>
    <p:extLst>
      <p:ext uri="{BB962C8B-B14F-4D97-AF65-F5344CB8AC3E}">
        <p14:creationId xmlns:p14="http://schemas.microsoft.com/office/powerpoint/2010/main" val="494770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953A3-F6EA-7F10-767F-4A10CD11FA4C}"/>
              </a:ext>
            </a:extLst>
          </p:cNvPr>
          <p:cNvSpPr>
            <a:spLocks noGrp="1"/>
          </p:cNvSpPr>
          <p:nvPr>
            <p:ph type="title"/>
          </p:nvPr>
        </p:nvSpPr>
        <p:spPr>
          <a:xfrm>
            <a:off x="838200" y="314325"/>
            <a:ext cx="10515600" cy="1325563"/>
          </a:xfrm>
        </p:spPr>
        <p:txBody>
          <a:bodyPr>
            <a:normAutofit/>
          </a:bodyPr>
          <a:lstStyle/>
          <a:p>
            <a:pPr algn="ctr"/>
            <a:r>
              <a:rPr lang="en-IN" sz="4000" dirty="0">
                <a:solidFill>
                  <a:schemeClr val="accent1">
                    <a:lumMod val="50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1D0F143-651A-0CAA-4A03-B0E87E7D217C}"/>
              </a:ext>
            </a:extLst>
          </p:cNvPr>
          <p:cNvSpPr>
            <a:spLocks noGrp="1"/>
          </p:cNvSpPr>
          <p:nvPr>
            <p:ph idx="1"/>
          </p:nvPr>
        </p:nvSpPr>
        <p:spPr/>
        <p:txBody>
          <a:bodyPr>
            <a:normAutofit lnSpcReduction="10000"/>
          </a:bodyPr>
          <a:lstStyle/>
          <a:p>
            <a:r>
              <a:rPr lang="en-IN" sz="2400" dirty="0">
                <a:latin typeface="Times New Roman" panose="02020603050405020304" pitchFamily="18" charset="0"/>
                <a:cs typeface="Times New Roman" panose="02020603050405020304" pitchFamily="18" charset="0"/>
              </a:rPr>
              <a:t>The proposed work effectively created a 2-D CNN model to classify ECG signals into normal sinus rhythm, atrial fibrillation, alternative rhythm and noisy signal</a:t>
            </a:r>
          </a:p>
          <a:p>
            <a:r>
              <a:rPr lang="en-IN" sz="2400" dirty="0">
                <a:latin typeface="Times New Roman" panose="02020603050405020304" pitchFamily="18" charset="0"/>
                <a:cs typeface="Times New Roman" panose="02020603050405020304" pitchFamily="18" charset="0"/>
              </a:rPr>
              <a:t>Deep learning model is a possible solution for ECG analysis if required amount of data and sources are available</a:t>
            </a:r>
          </a:p>
          <a:p>
            <a:r>
              <a:rPr lang="en-IN" sz="2400" dirty="0">
                <a:latin typeface="Times New Roman" panose="02020603050405020304" pitchFamily="18" charset="0"/>
                <a:cs typeface="Times New Roman" panose="02020603050405020304" pitchFamily="18" charset="0"/>
              </a:rPr>
              <a:t>Achieved a test accuracy of 69.4% and AUCs for AF, NSR,AR and noisy signal as </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0.8235, 0.8155, 0.7239 and 0.9835 respectively</a:t>
            </a:r>
          </a:p>
          <a:p>
            <a:r>
              <a:rPr lang="en-US" sz="2400" dirty="0">
                <a:latin typeface="Times New Roman" panose="02020603050405020304" pitchFamily="18" charset="0"/>
                <a:ea typeface="SimSun" panose="02010600030101010101" pitchFamily="2" charset="-122"/>
                <a:cs typeface="Times New Roman" panose="02020603050405020304" pitchFamily="18" charset="0"/>
              </a:rPr>
              <a:t>The class on which model perform  best is noisy signal and least is Alternative Rhythm</a:t>
            </a:r>
          </a:p>
          <a:p>
            <a:r>
              <a:rPr lang="en-US" sz="2400" dirty="0">
                <a:effectLst/>
                <a:latin typeface="Times New Roman" panose="02020603050405020304" pitchFamily="18" charset="0"/>
                <a:ea typeface="SimSun" panose="02010600030101010101" pitchFamily="2" charset="-122"/>
                <a:cs typeface="Times New Roman" panose="02020603050405020304" pitchFamily="18" charset="0"/>
              </a:rPr>
              <a:t>AF and AR has</a:t>
            </a:r>
            <a:r>
              <a:rPr lang="en-US" sz="2400" dirty="0">
                <a:latin typeface="Times New Roman" panose="02020603050405020304" pitchFamily="18" charset="0"/>
                <a:ea typeface="SimSun" panose="02010600030101010101" pitchFamily="2" charset="-122"/>
                <a:cs typeface="Times New Roman" panose="02020603050405020304" pitchFamily="18" charset="0"/>
              </a:rPr>
              <a:t> </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False Negative </a:t>
            </a:r>
            <a:r>
              <a:rPr lang="en-US" sz="2400" dirty="0">
                <a:latin typeface="Times New Roman" panose="02020603050405020304" pitchFamily="18" charset="0"/>
                <a:ea typeface="SimSun" panose="02010600030101010101" pitchFamily="2" charset="-122"/>
                <a:cs typeface="Times New Roman" panose="02020603050405020304" pitchFamily="18" charset="0"/>
              </a:rPr>
              <a:t>percentage</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of 45.1 and 47.4 respectively</a:t>
            </a:r>
          </a:p>
          <a:p>
            <a:r>
              <a:rPr lang="en-US" sz="2400" dirty="0">
                <a:effectLst/>
                <a:latin typeface="Times New Roman" panose="02020603050405020304" pitchFamily="18" charset="0"/>
                <a:ea typeface="SimSun" panose="02010600030101010101" pitchFamily="2" charset="-122"/>
                <a:cs typeface="Times New Roman" panose="02020603050405020304" pitchFamily="18" charset="0"/>
              </a:rPr>
              <a:t>Considering AF and NSR classification, an F1 score of 0.76 is </a:t>
            </a:r>
            <a:r>
              <a:rPr lang="en-US" sz="2400" dirty="0">
                <a:latin typeface="Times New Roman" panose="02020603050405020304" pitchFamily="18" charset="0"/>
                <a:ea typeface="SimSun" panose="02010600030101010101" pitchFamily="2" charset="-122"/>
                <a:cs typeface="Times New Roman" panose="02020603050405020304" pitchFamily="18" charset="0"/>
              </a:rPr>
              <a:t>obtained</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performance of the model could be improved with more available data </a:t>
            </a:r>
          </a:p>
          <a:p>
            <a:pPr marL="0" indent="0">
              <a:buNone/>
            </a:pPr>
            <a:endParaRPr lang="en-IN" sz="24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37A283BD-9E6C-5F55-96E4-BE701E167DEB}"/>
              </a:ext>
            </a:extLst>
          </p:cNvPr>
          <p:cNvCxnSpPr/>
          <p:nvPr/>
        </p:nvCxnSpPr>
        <p:spPr>
          <a:xfrm>
            <a:off x="0" y="812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2F23ED1-2A04-1A52-7202-77A1A733AEF6}"/>
              </a:ext>
            </a:extLst>
          </p:cNvPr>
          <p:cNvCxnSpPr/>
          <p:nvPr/>
        </p:nvCxnSpPr>
        <p:spPr>
          <a:xfrm>
            <a:off x="0" y="677672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1F207CB3-BC6D-D038-D7A5-70282405FDD2}"/>
              </a:ext>
            </a:extLst>
          </p:cNvPr>
          <p:cNvSpPr>
            <a:spLocks noGrp="1"/>
          </p:cNvSpPr>
          <p:nvPr>
            <p:ph type="sldNum" sz="quarter" idx="12"/>
          </p:nvPr>
        </p:nvSpPr>
        <p:spPr/>
        <p:txBody>
          <a:bodyPr/>
          <a:lstStyle/>
          <a:p>
            <a:fld id="{6C5FC05A-C924-4EE5-A853-ADA77C45D7CF}" type="slidenum">
              <a:rPr lang="en-IN" sz="1800" smtClean="0">
                <a:solidFill>
                  <a:schemeClr val="tx1"/>
                </a:solidFill>
              </a:rPr>
              <a:t>21</a:t>
            </a:fld>
            <a:endParaRPr lang="en-IN" sz="1800" dirty="0">
              <a:solidFill>
                <a:schemeClr val="tx1"/>
              </a:solidFill>
            </a:endParaRPr>
          </a:p>
        </p:txBody>
      </p:sp>
    </p:spTree>
    <p:extLst>
      <p:ext uri="{BB962C8B-B14F-4D97-AF65-F5344CB8AC3E}">
        <p14:creationId xmlns:p14="http://schemas.microsoft.com/office/powerpoint/2010/main" val="1236894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2D3F0-2C34-F40A-3C63-1C1EA28DCE18}"/>
              </a:ext>
            </a:extLst>
          </p:cNvPr>
          <p:cNvSpPr>
            <a:spLocks noGrp="1"/>
          </p:cNvSpPr>
          <p:nvPr>
            <p:ph type="title"/>
          </p:nvPr>
        </p:nvSpPr>
        <p:spPr>
          <a:xfrm>
            <a:off x="838200" y="2204085"/>
            <a:ext cx="10515600" cy="1325563"/>
          </a:xfrm>
        </p:spPr>
        <p:txBody>
          <a:bodyPr>
            <a:normAutofit/>
          </a:bodyPr>
          <a:lstStyle/>
          <a:p>
            <a:pPr algn="ctr"/>
            <a:r>
              <a:rPr lang="en-IN" sz="6000" dirty="0">
                <a:solidFill>
                  <a:schemeClr val="accent1">
                    <a:lumMod val="50000"/>
                  </a:schemeClr>
                </a:solidFill>
                <a:latin typeface="Times New Roman" panose="02020603050405020304" pitchFamily="18" charset="0"/>
                <a:cs typeface="Times New Roman" panose="02020603050405020304" pitchFamily="18" charset="0"/>
              </a:rPr>
              <a:t>THANK YOU </a:t>
            </a:r>
          </a:p>
        </p:txBody>
      </p:sp>
      <p:cxnSp>
        <p:nvCxnSpPr>
          <p:cNvPr id="3" name="Straight Connector 2">
            <a:extLst>
              <a:ext uri="{FF2B5EF4-FFF2-40B4-BE49-F238E27FC236}">
                <a16:creationId xmlns:a16="http://schemas.microsoft.com/office/drawing/2014/main" id="{C10B8A72-9C50-808F-909F-1376ABCB25F1}"/>
              </a:ext>
            </a:extLst>
          </p:cNvPr>
          <p:cNvCxnSpPr/>
          <p:nvPr/>
        </p:nvCxnSpPr>
        <p:spPr>
          <a:xfrm>
            <a:off x="0" y="81279"/>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5D1D7D2-FD71-EFD2-9C6B-FCC16D78F704}"/>
              </a:ext>
            </a:extLst>
          </p:cNvPr>
          <p:cNvCxnSpPr/>
          <p:nvPr/>
        </p:nvCxnSpPr>
        <p:spPr>
          <a:xfrm>
            <a:off x="0" y="6776721"/>
            <a:ext cx="12192000" cy="0"/>
          </a:xfrm>
          <a:prstGeom prst="line">
            <a:avLst/>
          </a:prstGeom>
          <a:ln w="1778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1901EA3C-9A18-C64C-2C43-46D0F0AC97D8}"/>
              </a:ext>
            </a:extLst>
          </p:cNvPr>
          <p:cNvSpPr>
            <a:spLocks noGrp="1"/>
          </p:cNvSpPr>
          <p:nvPr>
            <p:ph type="sldNum" sz="quarter" idx="12"/>
          </p:nvPr>
        </p:nvSpPr>
        <p:spPr/>
        <p:txBody>
          <a:bodyPr/>
          <a:lstStyle/>
          <a:p>
            <a:fld id="{6C5FC05A-C924-4EE5-A853-ADA77C45D7CF}" type="slidenum">
              <a:rPr lang="en-IN" sz="1800" smtClean="0">
                <a:solidFill>
                  <a:schemeClr val="tx1"/>
                </a:solidFill>
              </a:rPr>
              <a:t>22</a:t>
            </a:fld>
            <a:endParaRPr lang="en-IN" sz="1800" dirty="0">
              <a:solidFill>
                <a:schemeClr val="tx1"/>
              </a:solidFill>
            </a:endParaRPr>
          </a:p>
        </p:txBody>
      </p:sp>
    </p:spTree>
    <p:extLst>
      <p:ext uri="{BB962C8B-B14F-4D97-AF65-F5344CB8AC3E}">
        <p14:creationId xmlns:p14="http://schemas.microsoft.com/office/powerpoint/2010/main" val="1040939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3619</TotalTime>
  <Words>1818</Words>
  <Application>Microsoft Office PowerPoint</Application>
  <PresentationFormat>Widescreen</PresentationFormat>
  <Paragraphs>299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Electrocardiogram Arrhythmia Classification Using Convolutional Neural Network</vt:lpstr>
      <vt:lpstr>               INTRODUCTION</vt:lpstr>
      <vt:lpstr>INTRODUCTION</vt:lpstr>
      <vt:lpstr>RECENT WORKS</vt:lpstr>
      <vt:lpstr>Dataset Description</vt:lpstr>
      <vt:lpstr>METHODOLOGY</vt:lpstr>
      <vt:lpstr>PRE-PROCESSING </vt:lpstr>
      <vt:lpstr>                  PRE-PROCESSING </vt:lpstr>
      <vt:lpstr>DATA  AUGMENTATION</vt:lpstr>
      <vt:lpstr>SPECTROGRAM CONVERSION</vt:lpstr>
      <vt:lpstr>CLASSIFICATION USING CNN</vt:lpstr>
      <vt:lpstr>                  CNN ARCHITECTURE</vt:lpstr>
      <vt:lpstr>                     CNN ARCHITECTURE</vt:lpstr>
      <vt:lpstr>PowerPoint Presentation</vt:lpstr>
      <vt:lpstr>TRAINING STRATEGY</vt:lpstr>
      <vt:lpstr>RESULTS AND DISCUSSIONS</vt:lpstr>
      <vt:lpstr>         RESULTS AND DISCUSSIONS</vt:lpstr>
      <vt:lpstr>           RESULTS AND DISCUSSIONS</vt:lpstr>
      <vt:lpstr>       RESULTS AND DISCUSSIONS</vt:lpstr>
      <vt:lpstr>PowerPoint Presentation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Electrocardiogram Arrhythmia Classification Using Convolutional Neural Network</dc:title>
  <dc:creator>Neha Surendran</dc:creator>
  <cp:lastModifiedBy>Neha Surendran</cp:lastModifiedBy>
  <cp:revision>34</cp:revision>
  <dcterms:created xsi:type="dcterms:W3CDTF">2023-09-12T11:28:09Z</dcterms:created>
  <dcterms:modified xsi:type="dcterms:W3CDTF">2023-09-15T10:06:41Z</dcterms:modified>
</cp:coreProperties>
</file>